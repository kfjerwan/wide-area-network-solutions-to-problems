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handoutMasterIdLst>
    <p:handoutMasterId r:id="rId36"/>
  </p:handoutMasterIdLst>
  <p:sldIdLst>
    <p:sldId id="256" r:id="rId3"/>
    <p:sldId id="257" r:id="rId4"/>
    <p:sldId id="258" r:id="rId5"/>
    <p:sldId id="259" r:id="rId6"/>
    <p:sldId id="260" r:id="rId7"/>
    <p:sldId id="261" r:id="rId8"/>
    <p:sldId id="262" r:id="rId9"/>
    <p:sldId id="263" r:id="rId10"/>
    <p:sldId id="267" r:id="rId11"/>
    <p:sldId id="264" r:id="rId12"/>
    <p:sldId id="265" r:id="rId13"/>
    <p:sldId id="266"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8" r:id="rId32"/>
    <p:sldId id="289" r:id="rId33"/>
    <p:sldId id="290" r:id="rId34"/>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74"/>
        <p:guide pos="3926"/>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handoutMaster" Target="handoutMasters/handoutMaster1.xml"/><Relationship Id="rId35" Type="http://schemas.openxmlformats.org/officeDocument/2006/relationships/notesMaster" Target="notesMasters/notesMaster1.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Click to edit Master subtitle style</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0945"/>
            <a:ext cx="9848088" cy="811530"/>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sym typeface="+mn-ea"/>
              </a:rPr>
              <a:t>Click to edit Master text styles</a:t>
            </a:r>
            <a:endParaRPr lang="zh-CN" altLang="en-US" dirty="0">
              <a:sym typeface="+mn-ea"/>
            </a:endParaRPr>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Click to edit Master title style</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endParaRPr lang="zh-CN" altLang="en-US" dirty="0">
              <a:sym typeface="+mn-ea"/>
            </a:endParaRPr>
          </a:p>
        </p:txBody>
      </p:sp>
      <p:sp>
        <p:nvSpPr>
          <p:cNvPr id="4" name="内容占位符 3"/>
          <p:cNvSpPr>
            <a:spLocks noGrp="1"/>
          </p:cNvSpPr>
          <p:nvPr>
            <p:ph sz="half" idx="2"/>
          </p:nvPr>
        </p:nvSpPr>
        <p:spPr>
          <a:xfrm>
            <a:off x="839788" y="2615609"/>
            <a:ext cx="5157787" cy="3574054"/>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endParaRPr lang="zh-CN" altLang="en-US" dirty="0">
              <a:sym typeface="+mn-ea"/>
            </a:endParaRP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p:cNvSpPr>
            <a:spLocks noGrp="1"/>
          </p:cNvSpPr>
          <p:nvPr>
            <p:ph type="title"/>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Click to edit Master text styles</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cxnSp>
        <p:nvCxnSpPr>
          <p:cNvPr id="8" name="直接连接符 7"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Click to edit Master title style</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Click to edit Master title style</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006475" y="1642110"/>
            <a:ext cx="9297035" cy="2584450"/>
          </a:xfrm>
          <a:prstGeom prst="rect">
            <a:avLst/>
          </a:prstGeom>
          <a:noFill/>
        </p:spPr>
        <p:txBody>
          <a:bodyPr wrap="square" rtlCol="0">
            <a:spAutoFit/>
          </a:bodyPr>
          <a:p>
            <a:pPr algn="ctr"/>
            <a:r>
              <a:rPr lang="en-US" b="1" u="sng"/>
              <a:t>ISN 3132 WIDE AREA NETWORKS</a:t>
            </a:r>
            <a:endParaRPr lang="en-US" b="1" u="sng"/>
          </a:p>
          <a:p>
            <a:pPr algn="ctr"/>
            <a:r>
              <a:rPr lang="en-US"/>
              <a:t> NS-3 Simulation Analysis</a:t>
            </a:r>
            <a:endParaRPr lang="en-US"/>
          </a:p>
          <a:p>
            <a:pPr algn="ctr"/>
            <a:r>
              <a:rPr lang="en-US"/>
              <a:t>PRESENTATION</a:t>
            </a:r>
            <a:endParaRPr lang="en-US"/>
          </a:p>
          <a:p>
            <a:pPr algn="ctr"/>
            <a:r>
              <a:rPr lang="en-US"/>
              <a:t>Student: [FEUTSEU KENMOGNE ERWAN JUNIOR ]</a:t>
            </a:r>
            <a:endParaRPr lang="en-US"/>
          </a:p>
          <a:p>
            <a:pPr algn="ctr"/>
            <a:r>
              <a:rPr lang="en-US"/>
              <a:t>Matricule: [ICTU20234174]</a:t>
            </a:r>
            <a:endParaRPr lang="en-US"/>
          </a:p>
          <a:p>
            <a:pPr algn="ctr"/>
            <a:r>
              <a:rPr lang="en-US"/>
              <a:t>Course: ISN 3132</a:t>
            </a:r>
            <a:endParaRPr lang="en-US"/>
          </a:p>
          <a:p>
            <a:pPr algn="ctr"/>
            <a:r>
              <a:rPr lang="en-US"/>
              <a:t>Lecturer: Prof. Daniel Moune</a:t>
            </a:r>
            <a:endParaRPr lang="en-US"/>
          </a:p>
          <a:p>
            <a:pPr algn="ctr"/>
            <a:r>
              <a:rPr lang="en-US"/>
              <a:t>Date: [03/12/2025]</a:t>
            </a:r>
            <a:endParaRPr lang="en-US"/>
          </a:p>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2470150" y="1509395"/>
            <a:ext cx="5735955" cy="1322070"/>
          </a:xfrm>
          <a:prstGeom prst="rect">
            <a:avLst/>
          </a:prstGeom>
          <a:noFill/>
        </p:spPr>
        <p:txBody>
          <a:bodyPr wrap="square" rtlCol="0">
            <a:spAutoFit/>
          </a:bodyPr>
          <a:p>
            <a:pPr algn="ctr"/>
            <a:r>
              <a:rPr lang="en-US" sz="4000"/>
              <a:t>Exercise 5 </a:t>
            </a:r>
            <a:endParaRPr lang="en-US" sz="4000"/>
          </a:p>
          <a:p>
            <a:pPr algn="ctr"/>
            <a:endParaRPr lang="en-US" sz="4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Text Box 10"/>
          <p:cNvSpPr txBox="1"/>
          <p:nvPr/>
        </p:nvSpPr>
        <p:spPr>
          <a:xfrm>
            <a:off x="688340" y="584835"/>
            <a:ext cx="11158220" cy="5785485"/>
          </a:xfrm>
          <a:prstGeom prst="rect">
            <a:avLst/>
          </a:prstGeom>
          <a:noFill/>
        </p:spPr>
        <p:txBody>
          <a:bodyPr wrap="square" rtlCol="0">
            <a:spAutoFit/>
          </a:bodyPr>
          <a:p>
            <a:pPr algn="ctr"/>
            <a:r>
              <a:rPr lang="en-US" sz="1000"/>
              <a:t>                     ╔═══════════════════════════════════════════════╗</a:t>
            </a:r>
            <a:endParaRPr lang="en-US" sz="1000"/>
          </a:p>
          <a:p>
            <a:pPr algn="ctr"/>
            <a:r>
              <a:rPr lang="en-US" sz="1000"/>
              <a:t>                     ║           WAN DUAL-PATH TOPOLOGY             ║</a:t>
            </a:r>
            <a:endParaRPr lang="en-US" sz="1000"/>
          </a:p>
          <a:p>
            <a:pPr algn="ctr"/>
            <a:r>
              <a:rPr lang="en-US" sz="1000"/>
              <a:t>                     ╚═══════════════════════════════════════════════╝</a:t>
            </a:r>
            <a:endParaRPr lang="en-US" sz="1000"/>
          </a:p>
          <a:p>
            <a:pPr algn="ctr"/>
            <a:endParaRPr lang="en-US" sz="1000"/>
          </a:p>
          <a:p>
            <a:pPr algn="ctr"/>
            <a:r>
              <a:rPr lang="en-US" sz="1000"/>
              <a:t>                    PRIMARY PATH (Low Latency)</a:t>
            </a:r>
            <a:endParaRPr lang="en-US" sz="1000"/>
          </a:p>
          <a:p>
            <a:pPr algn="ctr"/>
            <a:r>
              <a:rPr lang="en-US" sz="1000"/>
              <a:t>                    ↓↓↓↓↓↓↓↓↓↓↓↓↓↓↓↓↓↓↓↓↓↓↓↓↓↓↓↓</a:t>
            </a:r>
            <a:endParaRPr lang="en-US" sz="1000"/>
          </a:p>
          <a:p>
            <a:pPr algn="ctr"/>
            <a:r>
              <a:rPr lang="en-US" sz="1000"/>
              <a:t>                    </a:t>
            </a:r>
            <a:endParaRPr lang="en-US" sz="1000"/>
          </a:p>
          <a:p>
            <a:pPr algn="ctr"/>
            <a:r>
              <a:rPr lang="en-US" sz="1000"/>
              <a:t>    ┌─────────────────────────────────────────────────────────────┐</a:t>
            </a:r>
            <a:endParaRPr lang="en-US" sz="1000"/>
          </a:p>
          <a:p>
            <a:pPr algn="ctr"/>
            <a:r>
              <a:rPr lang="en-US" sz="1000"/>
              <a:t>    │                        Studio                               │</a:t>
            </a:r>
            <a:endParaRPr lang="en-US" sz="1000"/>
          </a:p>
          <a:p>
            <a:pPr algn="ctr"/>
            <a:r>
              <a:rPr lang="en-US" sz="1000"/>
              <a:t>    │                       10.1.1.1/24                           │</a:t>
            </a:r>
            <a:endParaRPr lang="en-US" sz="1000"/>
          </a:p>
          <a:p>
            <a:pPr algn="ctr"/>
            <a:r>
              <a:rPr lang="en-US" sz="1000"/>
              <a:t>    └──────────────┬──────────────────────────────┬───────────────┘</a:t>
            </a:r>
            <a:endParaRPr lang="en-US" sz="1000"/>
          </a:p>
          <a:p>
            <a:pPr algn="ctr"/>
            <a:r>
              <a:rPr lang="en-US" sz="1000"/>
              <a:t>                   │                              │</a:t>
            </a:r>
            <a:endParaRPr lang="en-US" sz="1000"/>
          </a:p>
          <a:p>
            <a:pPr algn="ctr"/>
            <a:r>
              <a:rPr lang="en-US" sz="1000"/>
              <a:t>                   │eth0                          │eth1</a:t>
            </a:r>
            <a:endParaRPr lang="en-US" sz="1000"/>
          </a:p>
          <a:p>
            <a:pPr algn="ctr"/>
            <a:r>
              <a:rPr lang="en-US" sz="1000"/>
              <a:t>                   │10.1.1.1                      │10.1.3.1</a:t>
            </a:r>
            <a:endParaRPr lang="en-US" sz="1000"/>
          </a:p>
          <a:p>
            <a:pPr algn="ctr"/>
            <a:r>
              <a:rPr lang="en-US" sz="1000"/>
              <a:t>                   │                              │</a:t>
            </a:r>
            <a:endParaRPr lang="en-US" sz="1000"/>
          </a:p>
          <a:p>
            <a:pPr algn="ctr"/>
            <a:r>
              <a:rPr lang="en-US" sz="1000"/>
              <a:t>          ╔════════╩════════╗            ╔════════╩════════╗</a:t>
            </a:r>
            <a:endParaRPr lang="en-US" sz="1000"/>
          </a:p>
          <a:p>
            <a:pPr algn="ctr"/>
            <a:r>
              <a:rPr lang="en-US" sz="1000"/>
              <a:t>          ║    Router1      ║            ║    Router2      ║</a:t>
            </a:r>
            <a:endParaRPr lang="en-US" sz="1000"/>
          </a:p>
          <a:p>
            <a:pPr algn="ctr"/>
            <a:r>
              <a:rPr lang="en-US" sz="1000"/>
              <a:t>          ║   (Primary)     ║            ║    (Backup)     ║</a:t>
            </a:r>
            <a:endParaRPr lang="en-US" sz="1000"/>
          </a:p>
          <a:p>
            <a:pPr algn="ctr"/>
            <a:r>
              <a:rPr lang="en-US" sz="1000"/>
              <a:t>          ║ 10.1.1.2/24     ║            ║  10.1.3.2/24    ║</a:t>
            </a:r>
            <a:endParaRPr lang="en-US" sz="1000"/>
          </a:p>
          <a:p>
            <a:pPr algn="ctr"/>
            <a:r>
              <a:rPr lang="en-US" sz="1000"/>
              <a:t>          ╚═══════╦═════════╝            ╚═══════╦═════════╝</a:t>
            </a:r>
            <a:endParaRPr lang="en-US" sz="1000"/>
          </a:p>
          <a:p>
            <a:pPr algn="ctr"/>
            <a:r>
              <a:rPr lang="en-US" sz="1000"/>
              <a:t>                  │eth1                          │eth1</a:t>
            </a:r>
            <a:endParaRPr lang="en-US" sz="1000"/>
          </a:p>
          <a:p>
            <a:pPr algn="ctr"/>
            <a:r>
              <a:rPr lang="en-US" sz="1000"/>
              <a:t>                  │10.1.2.1                      │10.1.4.1</a:t>
            </a:r>
            <a:endParaRPr lang="en-US" sz="1000"/>
          </a:p>
          <a:p>
            <a:pPr algn="ctr"/>
            <a:r>
              <a:rPr lang="en-US" sz="1000"/>
              <a:t>                  │                              │</a:t>
            </a:r>
            <a:endParaRPr lang="en-US" sz="1000"/>
          </a:p>
          <a:p>
            <a:pPr algn="ctr"/>
            <a:r>
              <a:rPr lang="en-US" sz="1000"/>
              <a:t>         ╔════════╩════════╗            ╔════════╩════════╗</a:t>
            </a:r>
            <a:endParaRPr lang="en-US" sz="1000"/>
          </a:p>
          <a:p>
            <a:pPr algn="ctr"/>
            <a:r>
              <a:rPr lang="en-US" sz="1000"/>
              <a:t>         ║      Cloud      ║            ║      Cloud      ║</a:t>
            </a:r>
            <a:endParaRPr lang="en-US" sz="1000"/>
          </a:p>
          <a:p>
            <a:pPr algn="ctr"/>
            <a:r>
              <a:rPr lang="en-US" sz="1000"/>
              <a:t>         ║     (client)    ║            ║     (Server)    ║</a:t>
            </a:r>
            <a:endParaRPr lang="en-US" sz="1000"/>
          </a:p>
          <a:p>
            <a:pPr algn="ctr"/>
            <a:r>
              <a:rPr lang="en-US" sz="1000"/>
              <a:t>         ║   10.1.2.2/24   ║            ║   10.1.4.2/24   ║</a:t>
            </a:r>
            <a:endParaRPr lang="en-US" sz="1000"/>
          </a:p>
          <a:p>
            <a:pPr algn="ctr"/>
            <a:r>
              <a:rPr lang="en-US" sz="1000"/>
              <a:t>         ╚═════════════════╝            ╚═════════════════╝</a:t>
            </a:r>
            <a:endParaRPr lang="en-US" sz="1000"/>
          </a:p>
          <a:p>
            <a:pPr algn="ctr"/>
            <a:r>
              <a:rPr lang="en-US" sz="1000"/>
              <a:t>         </a:t>
            </a:r>
            <a:endParaRPr lang="en-US" sz="1000"/>
          </a:p>
          <a:p>
            <a:pPr algn="ctr"/>
            <a:r>
              <a:rPr lang="en-US" sz="1000"/>
              <a:t>                    ↑↑↑↑↑↑↑↑↑↑↑↑↑↑↑↑↑↑↑↑↑↑↑↑↑↑↑↑↑↑↑↑↑↑↑↑↑↑</a:t>
            </a:r>
            <a:endParaRPr lang="en-US" sz="1000"/>
          </a:p>
          <a:p>
            <a:pPr algn="ctr"/>
            <a:r>
              <a:rPr lang="en-US" sz="1000"/>
              <a:t>                    BACKUP PATH (High Bandwidth)</a:t>
            </a:r>
            <a:endParaRPr lang="en-US" sz="1000"/>
          </a:p>
          <a:p>
            <a:pPr algn="ctr"/>
            <a:endParaRPr lang="en-US" sz="1000"/>
          </a:p>
          <a:p>
            <a:pPr algn="ctr"/>
            <a:r>
              <a:rPr lang="en-US" sz="1000"/>
              <a:t>═══════════════════════════════════════════════════════════════════════</a:t>
            </a:r>
            <a:endParaRPr lang="en-US" sz="1000"/>
          </a:p>
          <a:p>
            <a:pPr algn="ctr"/>
            <a:r>
              <a:rPr lang="en-US" sz="1000"/>
              <a:t>Link Characteristics:</a:t>
            </a:r>
            <a:endParaRPr lang="en-US" sz="1000"/>
          </a:p>
          <a:p>
            <a:pPr algn="ctr"/>
            <a:r>
              <a:rPr lang="en-US" sz="1000"/>
              <a:t>• Primary: 5 Mbps, 2ms delay (optimized for latency)</a:t>
            </a:r>
            <a:endParaRPr lang="en-US" sz="1000"/>
          </a:p>
          <a:p>
            <a:pPr algn="ctr"/>
            <a:r>
              <a:rPr lang="en-US" sz="1000"/>
              <a:t>• Backup:  10 Mbps, 10ms delay (optimized for throughput)</a:t>
            </a:r>
            <a:endParaRPr lang="en-US" sz="1000"/>
          </a:p>
          <a:p>
            <a:pPr algn="ctr"/>
            <a:r>
              <a:rPr lang="en-US" sz="1000"/>
              <a:t>═══════════════════════════════════════════════════════════════════════</a:t>
            </a:r>
            <a:endParaRPr lang="en-US" sz="1000"/>
          </a:p>
        </p:txBody>
      </p:sp>
      <p:sp>
        <p:nvSpPr>
          <p:cNvPr id="12" name="Text Box 11"/>
          <p:cNvSpPr txBox="1"/>
          <p:nvPr/>
        </p:nvSpPr>
        <p:spPr>
          <a:xfrm>
            <a:off x="516890" y="105410"/>
            <a:ext cx="10637520" cy="368300"/>
          </a:xfrm>
          <a:prstGeom prst="rect">
            <a:avLst/>
          </a:prstGeom>
          <a:noFill/>
        </p:spPr>
        <p:txBody>
          <a:bodyPr wrap="square" rtlCol="0">
            <a:spAutoFit/>
          </a:bodyPr>
          <a:p>
            <a:pPr algn="ctr"/>
            <a:r>
              <a:rPr lang="en-US"/>
              <a:t>Figure 1: WAN Dual-Path Network Topology</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54635" y="215900"/>
            <a:ext cx="11813540" cy="6739255"/>
          </a:xfrm>
          <a:prstGeom prst="rect">
            <a:avLst/>
          </a:prstGeom>
          <a:noFill/>
        </p:spPr>
        <p:txBody>
          <a:bodyPr wrap="square" rtlCol="0">
            <a:spAutoFit/>
          </a:bodyPr>
          <a:p>
            <a:pPr algn="ctr"/>
            <a:r>
              <a:rPr lang="en-US" sz="1600">
                <a:sym typeface="+mn-ea"/>
              </a:rPr>
              <a:t>TRAFFIC CLASS CHARACTERISTICS</a:t>
            </a:r>
            <a:endParaRPr lang="en-US" sz="1600"/>
          </a:p>
          <a:p>
            <a:pPr algn="ctr"/>
            <a:endParaRPr lang="en-US" sz="1600"/>
          </a:p>
          <a:p>
            <a:pPr algn="ctr"/>
            <a:r>
              <a:rPr lang="en-US" sz="1600">
                <a:sym typeface="+mn-ea"/>
              </a:rPr>
              <a:t>╔══════════════════════════════════════════════════════╗</a:t>
            </a:r>
            <a:endParaRPr lang="en-US" sz="1600"/>
          </a:p>
          <a:p>
            <a:pPr algn="ctr"/>
            <a:r>
              <a:rPr lang="en-US" sz="1600">
                <a:sym typeface="+mn-ea"/>
              </a:rPr>
              <a:t>║         VIDEO TRAFFIC (Class 1 - High Priority)     ║</a:t>
            </a:r>
            <a:endParaRPr lang="en-US" sz="1600"/>
          </a:p>
          <a:p>
            <a:pPr algn="ctr"/>
            <a:r>
              <a:rPr lang="en-US" sz="1600">
                <a:sym typeface="+mn-ea"/>
              </a:rPr>
              <a:t>╠══════════════════════════════════════════════════════╣</a:t>
            </a:r>
            <a:endParaRPr lang="en-US" sz="1600"/>
          </a:p>
          <a:p>
            <a:pPr algn="ctr"/>
            <a:r>
              <a:rPr lang="en-US" sz="1600">
                <a:sym typeface="+mn-ea"/>
              </a:rPr>
              <a:t>║ Application:   VoIP/Video Control Signals           ║</a:t>
            </a:r>
            <a:endParaRPr lang="en-US" sz="1600"/>
          </a:p>
          <a:p>
            <a:pPr algn="ctr"/>
            <a:r>
              <a:rPr lang="en-US" sz="1600">
                <a:sym typeface="+mn-ea"/>
              </a:rPr>
              <a:t>║ Packet Size:   160 bytes                            ║</a:t>
            </a:r>
            <a:endParaRPr lang="en-US" sz="1600"/>
          </a:p>
          <a:p>
            <a:pPr algn="ctr"/>
            <a:r>
              <a:rPr lang="en-US" sz="1600">
                <a:sym typeface="+mn-ea"/>
              </a:rPr>
              <a:t>║ Interval:      20 ms (50 packets/sec)               ║</a:t>
            </a:r>
            <a:endParaRPr lang="en-US" sz="1600"/>
          </a:p>
          <a:p>
            <a:pPr algn="ctr"/>
            <a:r>
              <a:rPr lang="en-US" sz="1600">
                <a:sym typeface="+mn-ea"/>
              </a:rPr>
              <a:t>║ Data Rate:     64 Kbps                              ║</a:t>
            </a:r>
            <a:endParaRPr lang="en-US" sz="1600"/>
          </a:p>
          <a:p>
            <a:pPr algn="ctr"/>
            <a:r>
              <a:rPr lang="en-US" sz="1600">
                <a:sym typeface="+mn-ea"/>
              </a:rPr>
              <a:t>║ DSCP Marking:  EF (0x2E) - Expedited Forwarding     ║</a:t>
            </a:r>
            <a:endParaRPr lang="en-US" sz="1600"/>
          </a:p>
          <a:p>
            <a:pPr algn="ctr"/>
            <a:r>
              <a:rPr lang="en-US" sz="1600">
                <a:sym typeface="+mn-ea"/>
              </a:rPr>
              <a:t>║ Latency Req:   &lt;30 ms                               ║</a:t>
            </a:r>
            <a:endParaRPr lang="en-US" sz="1600"/>
          </a:p>
          <a:p>
            <a:pPr algn="ctr"/>
            <a:r>
              <a:rPr lang="en-US" sz="1600">
                <a:sym typeface="+mn-ea"/>
              </a:rPr>
              <a:t>║ Jitter Tol:    Low (&lt;10 ms)                         ║</a:t>
            </a:r>
            <a:endParaRPr lang="en-US" sz="1600"/>
          </a:p>
          <a:p>
            <a:pPr algn="ctr"/>
            <a:r>
              <a:rPr lang="en-US" sz="1600">
                <a:sym typeface="+mn-ea"/>
              </a:rPr>
              <a:t>║ Loss Tol:      &lt;1%                                  ║</a:t>
            </a:r>
            <a:endParaRPr lang="en-US" sz="1600"/>
          </a:p>
          <a:p>
            <a:pPr algn="ctr"/>
            <a:r>
              <a:rPr lang="en-US" sz="1600">
                <a:sym typeface="+mn-ea"/>
              </a:rPr>
              <a:t>╚══════════════════════════════════════════════════════╝</a:t>
            </a:r>
            <a:endParaRPr lang="en-US" sz="1600"/>
          </a:p>
          <a:p>
            <a:pPr algn="ctr"/>
            <a:endParaRPr lang="en-US" sz="1600"/>
          </a:p>
          <a:p>
            <a:pPr algn="ctr"/>
            <a:r>
              <a:rPr lang="en-US" sz="1600">
                <a:sym typeface="+mn-ea"/>
              </a:rPr>
              <a:t>╔══════════════════════════════════════════════════════╗</a:t>
            </a:r>
            <a:endParaRPr lang="en-US" sz="1600"/>
          </a:p>
          <a:p>
            <a:pPr algn="ctr"/>
            <a:r>
              <a:rPr lang="en-US" sz="1600">
                <a:sym typeface="+mn-ea"/>
              </a:rPr>
              <a:t>║         DATA TRAFFIC (Class 2 - Best Effort)        ║</a:t>
            </a:r>
            <a:endParaRPr lang="en-US" sz="1600"/>
          </a:p>
          <a:p>
            <a:pPr algn="ctr"/>
            <a:r>
              <a:rPr lang="en-US" sz="1600">
                <a:sym typeface="+mn-ea"/>
              </a:rPr>
              <a:t>╠══════════════════════════════════════════════════════╣</a:t>
            </a:r>
            <a:endParaRPr lang="en-US" sz="1600"/>
          </a:p>
          <a:p>
            <a:pPr algn="ctr"/>
            <a:r>
              <a:rPr lang="en-US" sz="1600">
                <a:sym typeface="+mn-ea"/>
              </a:rPr>
              <a:t>║ Application:   FTP/File Transfers                   ║</a:t>
            </a:r>
            <a:endParaRPr lang="en-US" sz="1600"/>
          </a:p>
          <a:p>
            <a:pPr algn="ctr"/>
            <a:r>
              <a:rPr lang="en-US" sz="1600">
                <a:sym typeface="+mn-ea"/>
              </a:rPr>
              <a:t>║ Packet Size:   1500 bytes                           ║</a:t>
            </a:r>
            <a:endParaRPr lang="en-US" sz="1600"/>
          </a:p>
          <a:p>
            <a:pPr algn="ctr"/>
            <a:r>
              <a:rPr lang="en-US" sz="1600">
                <a:sym typeface="+mn-ea"/>
              </a:rPr>
              <a:t>║ Interval:      Bursty (0.5-2 sec gaps)              ║</a:t>
            </a:r>
            <a:endParaRPr lang="en-US" sz="1600"/>
          </a:p>
          <a:p>
            <a:pPr algn="ctr"/>
            <a:r>
              <a:rPr lang="en-US" sz="1600">
                <a:sym typeface="+mn-ea"/>
              </a:rPr>
              <a:t>║ Data Rate:     4-8 Mbps                             ║</a:t>
            </a:r>
            <a:endParaRPr lang="en-US" sz="1600"/>
          </a:p>
          <a:p>
            <a:pPr algn="ctr"/>
            <a:r>
              <a:rPr lang="en-US" sz="1600">
                <a:sym typeface="+mn-ea"/>
              </a:rPr>
              <a:t>║ DSCP Marking:  BE (0x00) - Best Effort              ║</a:t>
            </a:r>
            <a:endParaRPr lang="en-US" sz="1600"/>
          </a:p>
          <a:p>
            <a:pPr algn="ctr"/>
            <a:r>
              <a:rPr lang="en-US" sz="1600">
                <a:sym typeface="+mn-ea"/>
              </a:rPr>
              <a:t>║ Latency Req:   &lt;200 ms                              ║</a:t>
            </a:r>
            <a:endParaRPr lang="en-US" sz="1600"/>
          </a:p>
          <a:p>
            <a:pPr algn="ctr"/>
            <a:r>
              <a:rPr lang="en-US" sz="1600">
                <a:sym typeface="+mn-ea"/>
              </a:rPr>
              <a:t>║ Jitter Tol:    High (&lt;50 ms)                        ║</a:t>
            </a:r>
            <a:endParaRPr lang="en-US" sz="1600"/>
          </a:p>
          <a:p>
            <a:pPr algn="ctr"/>
            <a:r>
              <a:rPr lang="en-US" sz="1600">
                <a:sym typeface="+mn-ea"/>
              </a:rPr>
              <a:t>║ Loss Tol:      &lt;5%                                  ║</a:t>
            </a:r>
            <a:endParaRPr lang="en-US" sz="1600"/>
          </a:p>
          <a:p>
            <a:pPr algn="ctr"/>
            <a:r>
              <a:rPr lang="en-US" sz="1600">
                <a:sym typeface="+mn-ea"/>
              </a:rPr>
              <a:t>╚══════════════════════════════════════════════════════╝</a:t>
            </a:r>
            <a:endParaRPr lang="en-US"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53035" y="1162050"/>
            <a:ext cx="12009755" cy="368300"/>
          </a:xfrm>
          <a:prstGeom prst="rect">
            <a:avLst/>
          </a:prstGeom>
          <a:noFill/>
        </p:spPr>
        <p:txBody>
          <a:bodyPr wrap="square" rtlCol="0">
            <a:spAutoFit/>
          </a:bodyPr>
          <a:p>
            <a:pPr algn="ctr"/>
            <a:r>
              <a:rPr lang="en-US"/>
              <a:t>TRAFFIC CLASSIFICATION TABLE</a:t>
            </a:r>
            <a:endParaRPr lang="en-US"/>
          </a:p>
        </p:txBody>
      </p:sp>
      <p:graphicFrame>
        <p:nvGraphicFramePr>
          <p:cNvPr id="8" name="Table 7"/>
          <p:cNvGraphicFramePr/>
          <p:nvPr/>
        </p:nvGraphicFramePr>
        <p:xfrm>
          <a:off x="1828800" y="2095500"/>
          <a:ext cx="8534400" cy="2667000"/>
        </p:xfrm>
        <a:graphic>
          <a:graphicData uri="http://schemas.openxmlformats.org/drawingml/2006/table">
            <a:tbl>
              <a:tblPr firstRow="1" bandRow="1">
                <a:tableStyleId>{5C22544A-7EE6-4342-B048-85BDC9FD1C3A}</a:tableStyleId>
              </a:tblPr>
              <a:tblGrid>
                <a:gridCol w="2844800"/>
                <a:gridCol w="2844800"/>
                <a:gridCol w="2844800"/>
              </a:tblGrid>
              <a:tr h="381000">
                <a:tc>
                  <a:txBody>
                    <a:bodyPr/>
                    <a:p>
                      <a:pPr>
                        <a:buNone/>
                      </a:pPr>
                      <a:r>
                        <a:rPr lang="en-US"/>
                        <a:t>Parameter</a:t>
                      </a:r>
                      <a:endParaRPr lang="en-US"/>
                    </a:p>
                  </a:txBody>
                  <a:tcPr/>
                </a:tc>
                <a:tc>
                  <a:txBody>
                    <a:bodyPr/>
                    <a:p>
                      <a:pPr>
                        <a:buNone/>
                      </a:pPr>
                      <a:r>
                        <a:rPr lang="en-US"/>
                        <a:t>Video Traffic (Class 1)</a:t>
                      </a:r>
                      <a:endParaRPr lang="en-US"/>
                    </a:p>
                  </a:txBody>
                  <a:tcPr/>
                </a:tc>
                <a:tc>
                  <a:txBody>
                    <a:bodyPr/>
                    <a:p>
                      <a:pPr>
                        <a:buNone/>
                      </a:pPr>
                      <a:r>
                        <a:rPr lang="en-US"/>
                        <a:t>Data Traffic (Class 2)</a:t>
                      </a:r>
                      <a:endParaRPr lang="en-US"/>
                    </a:p>
                  </a:txBody>
                  <a:tcPr/>
                </a:tc>
              </a:tr>
              <a:tr h="381000">
                <a:tc>
                  <a:txBody>
                    <a:bodyPr/>
                    <a:p>
                      <a:pPr>
                        <a:buNone/>
                      </a:pPr>
                      <a:r>
                        <a:rPr lang="en-US"/>
                        <a:t>Application</a:t>
                      </a:r>
                      <a:endParaRPr lang="en-US"/>
                    </a:p>
                  </a:txBody>
                  <a:tcPr/>
                </a:tc>
                <a:tc>
                  <a:txBody>
                    <a:bodyPr/>
                    <a:p>
                      <a:pPr>
                        <a:buNone/>
                      </a:pPr>
                      <a:r>
                        <a:rPr lang="en-US"/>
                        <a:t>VoIP/Video Control</a:t>
                      </a:r>
                      <a:endParaRPr lang="en-US"/>
                    </a:p>
                  </a:txBody>
                  <a:tcPr/>
                </a:tc>
                <a:tc>
                  <a:txBody>
                    <a:bodyPr/>
                    <a:p>
                      <a:pPr>
                        <a:buNone/>
                      </a:pPr>
                      <a:r>
                        <a:rPr lang="en-US"/>
                        <a:t>FTP/File Transfer</a:t>
                      </a:r>
                      <a:endParaRPr lang="en-US"/>
                    </a:p>
                  </a:txBody>
                  <a:tcPr/>
                </a:tc>
              </a:tr>
              <a:tr h="381000">
                <a:tc>
                  <a:txBody>
                    <a:bodyPr/>
                    <a:p>
                      <a:pPr>
                        <a:buNone/>
                      </a:pPr>
                      <a:r>
                        <a:rPr lang="en-US"/>
                        <a:t>Packet Size</a:t>
                      </a:r>
                      <a:endParaRPr lang="en-US"/>
                    </a:p>
                  </a:txBody>
                  <a:tcPr/>
                </a:tc>
                <a:tc>
                  <a:txBody>
                    <a:bodyPr/>
                    <a:p>
                      <a:pPr>
                        <a:buNone/>
                      </a:pPr>
                      <a:r>
                        <a:rPr lang="en-US"/>
                        <a:t>160 bytes</a:t>
                      </a:r>
                      <a:endParaRPr lang="en-US"/>
                    </a:p>
                  </a:txBody>
                  <a:tcPr/>
                </a:tc>
                <a:tc>
                  <a:txBody>
                    <a:bodyPr/>
                    <a:p>
                      <a:pPr>
                        <a:buNone/>
                      </a:pPr>
                      <a:r>
                        <a:rPr lang="en-US"/>
                        <a:t>1500 bytes</a:t>
                      </a:r>
                      <a:endParaRPr lang="en-US"/>
                    </a:p>
                  </a:txBody>
                  <a:tcPr/>
                </a:tc>
              </a:tr>
              <a:tr h="381000">
                <a:tc>
                  <a:txBody>
                    <a:bodyPr/>
                    <a:p>
                      <a:pPr>
                        <a:buNone/>
                      </a:pPr>
                      <a:r>
                        <a:rPr lang="en-US"/>
                        <a:t>Interval</a:t>
                      </a:r>
                      <a:endParaRPr lang="en-US"/>
                    </a:p>
                  </a:txBody>
                  <a:tcPr/>
                </a:tc>
                <a:tc>
                  <a:txBody>
                    <a:bodyPr/>
                    <a:p>
                      <a:pPr>
                        <a:buNone/>
                      </a:pPr>
                      <a:r>
                        <a:rPr lang="en-US"/>
                        <a:t>20 ms (50 pps)</a:t>
                      </a:r>
                      <a:endParaRPr lang="en-US"/>
                    </a:p>
                  </a:txBody>
                  <a:tcPr/>
                </a:tc>
                <a:tc>
                  <a:txBody>
                    <a:bodyPr/>
                    <a:p>
                      <a:pPr>
                        <a:buNone/>
                      </a:pPr>
                      <a:r>
                        <a:rPr lang="en-US"/>
                        <a:t>Bursty (0.5-2s gaps)</a:t>
                      </a:r>
                      <a:endParaRPr lang="en-US"/>
                    </a:p>
                  </a:txBody>
                  <a:tcPr/>
                </a:tc>
              </a:tr>
              <a:tr h="381000">
                <a:tc>
                  <a:txBody>
                    <a:bodyPr/>
                    <a:p>
                      <a:pPr>
                        <a:buNone/>
                      </a:pPr>
                      <a:r>
                        <a:rPr lang="en-US"/>
                        <a:t>Data Rate</a:t>
                      </a:r>
                      <a:endParaRPr lang="en-US"/>
                    </a:p>
                  </a:txBody>
                  <a:tcPr/>
                </a:tc>
                <a:tc>
                  <a:txBody>
                    <a:bodyPr/>
                    <a:p>
                      <a:pPr>
                        <a:buNone/>
                      </a:pPr>
                      <a:r>
                        <a:rPr lang="en-US"/>
                        <a:t>64 Kbps</a:t>
                      </a:r>
                      <a:endParaRPr lang="en-US"/>
                    </a:p>
                  </a:txBody>
                  <a:tcPr/>
                </a:tc>
                <a:tc>
                  <a:txBody>
                    <a:bodyPr/>
                    <a:p>
                      <a:pPr>
                        <a:buNone/>
                      </a:pPr>
                      <a:r>
                        <a:rPr lang="en-US"/>
                        <a:t>4-8 Mbps</a:t>
                      </a:r>
                      <a:endParaRPr lang="en-US"/>
                    </a:p>
                  </a:txBody>
                  <a:tcPr/>
                </a:tc>
              </a:tr>
              <a:tr h="381000">
                <a:tc>
                  <a:txBody>
                    <a:bodyPr/>
                    <a:p>
                      <a:pPr>
                        <a:buNone/>
                      </a:pPr>
                      <a:r>
                        <a:rPr lang="en-US"/>
                        <a:t>DSCP Marking</a:t>
                      </a:r>
                      <a:endParaRPr lang="en-US"/>
                    </a:p>
                  </a:txBody>
                  <a:tcPr/>
                </a:tc>
                <a:tc>
                  <a:txBody>
                    <a:bodyPr/>
                    <a:p>
                      <a:pPr>
                        <a:buNone/>
                      </a:pPr>
                      <a:r>
                        <a:rPr lang="en-US"/>
                        <a:t>EF (0x2E)</a:t>
                      </a:r>
                      <a:endParaRPr lang="en-US"/>
                    </a:p>
                  </a:txBody>
                  <a:tcPr/>
                </a:tc>
                <a:tc>
                  <a:txBody>
                    <a:bodyPr/>
                    <a:p>
                      <a:pPr>
                        <a:buNone/>
                      </a:pPr>
                      <a:r>
                        <a:rPr lang="en-US"/>
                        <a:t>BE (0x00)</a:t>
                      </a:r>
                      <a:endParaRPr lang="en-US"/>
                    </a:p>
                  </a:txBody>
                  <a:tcPr/>
                </a:tc>
              </a:tr>
              <a:tr h="381000">
                <a:tc>
                  <a:txBody>
                    <a:bodyPr/>
                    <a:p>
                      <a:pPr>
                        <a:buNone/>
                      </a:pPr>
                      <a:r>
                        <a:rPr lang="en-US"/>
                        <a:t>Latency Requirement</a:t>
                      </a:r>
                      <a:endParaRPr lang="en-US"/>
                    </a:p>
                  </a:txBody>
                  <a:tcPr/>
                </a:tc>
                <a:tc>
                  <a:txBody>
                    <a:bodyPr/>
                    <a:p>
                      <a:pPr>
                        <a:buNone/>
                      </a:pPr>
                      <a:r>
                        <a:rPr lang="en-US"/>
                        <a:t>&lt;30 ms</a:t>
                      </a:r>
                      <a:endParaRPr lang="en-US"/>
                    </a:p>
                  </a:txBody>
                  <a:tcPr/>
                </a:tc>
                <a:tc>
                  <a:txBody>
                    <a:bodyPr/>
                    <a:p>
                      <a:pPr>
                        <a:buNone/>
                      </a:pPr>
                      <a:r>
                        <a:rPr lang="en-US"/>
                        <a:t>&lt;200 ms</a:t>
                      </a:r>
                      <a:endParaRPr lang="en-US"/>
                    </a:p>
                  </a:txBody>
                  <a:tcPr/>
                </a:tc>
              </a:tr>
            </a:tbl>
          </a:graphicData>
        </a:graphic>
      </p:graphicFrame>
      <p:sp>
        <p:nvSpPr>
          <p:cNvPr id="9" name="Text Box 8"/>
          <p:cNvSpPr txBox="1"/>
          <p:nvPr/>
        </p:nvSpPr>
        <p:spPr>
          <a:xfrm>
            <a:off x="446405" y="789940"/>
            <a:ext cx="11572240" cy="245110"/>
          </a:xfrm>
          <a:prstGeom prst="rect">
            <a:avLst/>
          </a:prstGeom>
          <a:noFill/>
        </p:spPr>
        <p:txBody>
          <a:bodyPr wrap="square" rtlCol="0">
            <a:spAutoFit/>
          </a:bodyPr>
          <a:p>
            <a:pPr algn="ctr"/>
            <a:endParaRPr lang="en-US" sz="1000"/>
          </a:p>
        </p:txBody>
      </p:sp>
      <p:sp>
        <p:nvSpPr>
          <p:cNvPr id="10" name="Text Box 9"/>
          <p:cNvSpPr txBox="1"/>
          <p:nvPr/>
        </p:nvSpPr>
        <p:spPr>
          <a:xfrm>
            <a:off x="573405" y="916940"/>
            <a:ext cx="11572240" cy="245110"/>
          </a:xfrm>
          <a:prstGeom prst="rect">
            <a:avLst/>
          </a:prstGeom>
          <a:noFill/>
        </p:spPr>
        <p:txBody>
          <a:bodyPr wrap="square" rtlCol="0">
            <a:spAutoFit/>
          </a:bodyPr>
          <a:p>
            <a:pPr algn="ctr"/>
            <a:endParaRPr 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45110" y="1259205"/>
            <a:ext cx="11812905" cy="4523105"/>
          </a:xfrm>
          <a:prstGeom prst="rect">
            <a:avLst/>
          </a:prstGeom>
          <a:noFill/>
        </p:spPr>
        <p:txBody>
          <a:bodyPr wrap="square" rtlCol="0">
            <a:spAutoFit/>
          </a:bodyPr>
          <a:p>
            <a:r>
              <a:rPr lang="en-US" sz="2400"/>
              <a:t>The dual-path WAN topology extends the original linear design to provide redundant connectivity between Studio and Cloud. Studio connects to two independent routers: Router1 serves as the primary path optimized for low latency (5Mbps, 2ms), while Router2 provides a backup path with higher bandwidth but increased delay (10Mbps, 10ms). This configuration ensures path diversity and enables traffic engineering capabilities.</a:t>
            </a:r>
            <a:endParaRPr lang="en-US" sz="2400"/>
          </a:p>
          <a:p>
            <a:endParaRPr lang="en-US" sz="2400"/>
          </a:p>
          <a:p>
            <a:r>
              <a:rPr lang="en-US" sz="2400"/>
              <a:t>Each path maintains separate IP addressing schemes: the primary network uses 10.1.1.0/24 and 10.1.2.0/24 subnets, while the backup network employs 10.1.3.0/24 and 10.1.4.0/24. This segregation allows clear traffic differentiation and simplifies routing policy implementation. The Cloud server has dual interfaces to receive traffic from both paths simultaneously.</a:t>
            </a:r>
            <a:endParaRPr lang="en-US" sz="2400"/>
          </a:p>
        </p:txBody>
      </p:sp>
      <p:sp>
        <p:nvSpPr>
          <p:cNvPr id="3" name="Text Box 2"/>
          <p:cNvSpPr txBox="1"/>
          <p:nvPr/>
        </p:nvSpPr>
        <p:spPr>
          <a:xfrm>
            <a:off x="512445" y="469900"/>
            <a:ext cx="10551160" cy="398780"/>
          </a:xfrm>
          <a:prstGeom prst="rect">
            <a:avLst/>
          </a:prstGeom>
          <a:noFill/>
        </p:spPr>
        <p:txBody>
          <a:bodyPr wrap="square" rtlCol="0">
            <a:spAutoFit/>
          </a:bodyPr>
          <a:p>
            <a:pPr algn="ctr"/>
            <a:r>
              <a:rPr lang="en-US" sz="2000"/>
              <a:t>explanation of the topology</a:t>
            </a:r>
            <a:r>
              <a:rPr lang="en-US"/>
              <a:t> </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37160" y="534670"/>
            <a:ext cx="11880850" cy="5815965"/>
          </a:xfrm>
          <a:prstGeom prst="rect">
            <a:avLst/>
          </a:prstGeom>
          <a:noFill/>
        </p:spPr>
        <p:txBody>
          <a:bodyPr wrap="square" rtlCol="0">
            <a:spAutoFit/>
          </a:bodyPr>
          <a:p>
            <a:pPr algn="ctr"/>
            <a:r>
              <a:rPr lang="en-US" sz="1200"/>
              <a:t>    ┌─────────────────────────┐</a:t>
            </a:r>
            <a:endParaRPr lang="en-US" sz="1200"/>
          </a:p>
          <a:p>
            <a:pPr algn="ctr"/>
            <a:r>
              <a:rPr lang="en-US" sz="1200"/>
              <a:t>    │    Packet Received      │</a:t>
            </a:r>
            <a:endParaRPr lang="en-US" sz="1200"/>
          </a:p>
          <a:p>
            <a:pPr algn="ctr"/>
            <a:r>
              <a:rPr lang="en-US" sz="1200"/>
              <a:t>    └───────────┬─────────────┘</a:t>
            </a:r>
            <a:endParaRPr lang="en-US" sz="1200"/>
          </a:p>
          <a:p>
            <a:pPr algn="ctr"/>
            <a:r>
              <a:rPr lang="en-US" sz="1200"/>
              <a:t>                ↓</a:t>
            </a:r>
            <a:endParaRPr lang="en-US" sz="1200"/>
          </a:p>
          <a:p>
            <a:pPr algn="ctr"/>
            <a:r>
              <a:rPr lang="en-US" sz="1200"/>
              <a:t>    ┌─────────────────────────┐</a:t>
            </a:r>
            <a:endParaRPr lang="en-US" sz="1200"/>
          </a:p>
          <a:p>
            <a:pPr algn="ctr"/>
            <a:r>
              <a:rPr lang="en-US" sz="1200"/>
              <a:t>    │   Extract Headers       │</a:t>
            </a:r>
            <a:endParaRPr lang="en-US" sz="1200"/>
          </a:p>
          <a:p>
            <a:pPr algn="ctr"/>
            <a:r>
              <a:rPr lang="en-US" sz="1200"/>
              <a:t>    └───────────┬─────────────┘</a:t>
            </a:r>
            <a:endParaRPr lang="en-US" sz="1200"/>
          </a:p>
          <a:p>
            <a:pPr algn="ctr"/>
            <a:r>
              <a:rPr lang="en-US" sz="1200"/>
              <a:t>                ↓</a:t>
            </a:r>
            <a:endParaRPr lang="en-US" sz="1200"/>
          </a:p>
          <a:p>
            <a:pPr algn="ctr"/>
            <a:r>
              <a:rPr lang="en-US" sz="1200"/>
              <a:t>    ┌─────────────────────────┐</a:t>
            </a:r>
            <a:endParaRPr lang="en-US" sz="1200"/>
          </a:p>
          <a:p>
            <a:pPr algn="ctr"/>
            <a:r>
              <a:rPr lang="en-US" sz="1200"/>
              <a:t>    │   Classification Logic  │</a:t>
            </a:r>
            <a:endParaRPr lang="en-US" sz="1200"/>
          </a:p>
          <a:p>
            <a:pPr algn="ctr"/>
            <a:r>
              <a:rPr lang="en-US" sz="1200"/>
              <a:t>    │   if (DSCP == 0x2E)     │</a:t>
            </a:r>
            <a:endParaRPr lang="en-US" sz="1200"/>
          </a:p>
          <a:p>
            <a:pPr algn="ctr"/>
            <a:r>
              <a:rPr lang="en-US" sz="1200"/>
              <a:t>    │      class = VIDEO      │</a:t>
            </a:r>
            <a:endParaRPr lang="en-US" sz="1200"/>
          </a:p>
          <a:p>
            <a:pPr algn="ctr"/>
            <a:r>
              <a:rPr lang="en-US" sz="1200"/>
              <a:t>    │   else if (size &gt; 1000) │</a:t>
            </a:r>
            <a:endParaRPr lang="en-US" sz="1200"/>
          </a:p>
          <a:p>
            <a:pPr algn="ctr"/>
            <a:r>
              <a:rPr lang="en-US" sz="1200"/>
              <a:t>    │      class = DATA       │</a:t>
            </a:r>
            <a:endParaRPr lang="en-US" sz="1200"/>
          </a:p>
          <a:p>
            <a:pPr algn="ctr"/>
            <a:r>
              <a:rPr lang="en-US" sz="1200"/>
              <a:t>    └───────────┬─────────────┘</a:t>
            </a:r>
            <a:endParaRPr lang="en-US" sz="1200"/>
          </a:p>
          <a:p>
            <a:pPr algn="ctr"/>
            <a:r>
              <a:rPr lang="en-US" sz="1200"/>
              <a:t>                ↓</a:t>
            </a:r>
            <a:endParaRPr lang="en-US" sz="1200"/>
          </a:p>
          <a:p>
            <a:pPr algn="ctr"/>
            <a:r>
              <a:rPr lang="en-US" sz="1200"/>
              <a:t>          ┌─────┴─────┐</a:t>
            </a:r>
            <a:endParaRPr lang="en-US" sz="1200"/>
          </a:p>
          <a:p>
            <a:pPr algn="ctr"/>
            <a:r>
              <a:rPr lang="en-US" sz="1200"/>
              <a:t>          │           │</a:t>
            </a:r>
            <a:endParaRPr lang="en-US" sz="1200"/>
          </a:p>
          <a:p>
            <a:pPr algn="ctr"/>
            <a:r>
              <a:rPr lang="en-US" sz="1200"/>
              <a:t>    [VIDEO]       [DATA]</a:t>
            </a:r>
            <a:endParaRPr lang="en-US" sz="1200"/>
          </a:p>
          <a:p>
            <a:pPr algn="ctr"/>
            <a:r>
              <a:rPr lang="en-US" sz="1200"/>
              <a:t>          │           │</a:t>
            </a:r>
            <a:endParaRPr lang="en-US" sz="1200"/>
          </a:p>
          <a:p>
            <a:pPr algn="ctr"/>
            <a:r>
              <a:rPr lang="en-US" sz="1200"/>
              <a:t>          ↓           ↓</a:t>
            </a:r>
            <a:endParaRPr lang="en-US" sz="1200"/>
          </a:p>
          <a:p>
            <a:pPr algn="ctr"/>
            <a:r>
              <a:rPr lang="en-US" sz="1200"/>
              <a:t>    ┌──────────┐ ┌──────────┐</a:t>
            </a:r>
            <a:endParaRPr lang="en-US" sz="1200"/>
          </a:p>
          <a:p>
            <a:pPr algn="ctr"/>
            <a:r>
              <a:rPr lang="en-US" sz="1200"/>
              <a:t>    │ Primary  │ │ Backup   │</a:t>
            </a:r>
            <a:endParaRPr lang="en-US" sz="1200"/>
          </a:p>
          <a:p>
            <a:pPr algn="ctr"/>
            <a:r>
              <a:rPr lang="en-US" sz="1200"/>
              <a:t>    │ Path     │ │ Path     │</a:t>
            </a:r>
            <a:endParaRPr lang="en-US" sz="1200"/>
          </a:p>
          <a:p>
            <a:pPr algn="ctr"/>
            <a:r>
              <a:rPr lang="en-US" sz="1200"/>
              <a:t>    └──────────┘ └──────────┘</a:t>
            </a:r>
            <a:endParaRPr lang="en-US" sz="1200"/>
          </a:p>
          <a:p>
            <a:pPr algn="ctr"/>
            <a:r>
              <a:rPr lang="en-US" sz="1200"/>
              <a:t>          │           │</a:t>
            </a:r>
            <a:endParaRPr lang="en-US" sz="1200"/>
          </a:p>
          <a:p>
            <a:pPr algn="ctr"/>
            <a:r>
              <a:rPr lang="en-US" sz="1200"/>
              <a:t>          └─────┬─────┘</a:t>
            </a:r>
            <a:endParaRPr lang="en-US" sz="1200"/>
          </a:p>
          <a:p>
            <a:pPr algn="ctr"/>
            <a:r>
              <a:rPr lang="en-US" sz="1200"/>
              <a:t>                ↓</a:t>
            </a:r>
            <a:endParaRPr lang="en-US" sz="1200"/>
          </a:p>
          <a:p>
            <a:pPr algn="ctr"/>
            <a:r>
              <a:rPr lang="en-US" sz="1200"/>
              <a:t>    ┌─────────────────────────┐</a:t>
            </a:r>
            <a:endParaRPr lang="en-US" sz="1200"/>
          </a:p>
          <a:p>
            <a:pPr algn="ctr"/>
            <a:r>
              <a:rPr lang="en-US" sz="1200"/>
              <a:t>    │   Forward Packet        │</a:t>
            </a:r>
            <a:endParaRPr lang="en-US" sz="1200"/>
          </a:p>
          <a:p>
            <a:pPr algn="ctr"/>
            <a:r>
              <a:rPr lang="en-US" sz="1200"/>
              <a:t>    └─────────────────────────┘</a:t>
            </a:r>
            <a:endParaRPr lang="en-US" sz="1200"/>
          </a:p>
        </p:txBody>
      </p:sp>
      <p:sp>
        <p:nvSpPr>
          <p:cNvPr id="3" name="Text Box 2"/>
          <p:cNvSpPr txBox="1"/>
          <p:nvPr/>
        </p:nvSpPr>
        <p:spPr>
          <a:xfrm>
            <a:off x="1372235" y="52070"/>
            <a:ext cx="9606915" cy="368300"/>
          </a:xfrm>
          <a:prstGeom prst="rect">
            <a:avLst/>
          </a:prstGeom>
          <a:noFill/>
        </p:spPr>
        <p:txBody>
          <a:bodyPr wrap="square" rtlCol="0">
            <a:spAutoFit/>
          </a:bodyPr>
          <a:p>
            <a:pPr algn="ctr"/>
            <a:r>
              <a:rPr lang="en-US"/>
              <a:t>PBR FLOWCHART</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70585" y="182245"/>
            <a:ext cx="9833610" cy="368300"/>
          </a:xfrm>
          <a:prstGeom prst="rect">
            <a:avLst/>
          </a:prstGeom>
          <a:noFill/>
        </p:spPr>
        <p:txBody>
          <a:bodyPr wrap="square" rtlCol="0">
            <a:spAutoFit/>
          </a:bodyPr>
          <a:p>
            <a:pPr algn="ctr"/>
            <a:r>
              <a:rPr lang="en-US" b="1"/>
              <a:t>IMPLEMENTATION &amp; CODE MODIFICATIONS</a:t>
            </a:r>
            <a:endParaRPr lang="en-US" b="1"/>
          </a:p>
        </p:txBody>
      </p:sp>
      <p:sp>
        <p:nvSpPr>
          <p:cNvPr id="3" name="Text Box 2"/>
          <p:cNvSpPr txBox="1"/>
          <p:nvPr/>
        </p:nvSpPr>
        <p:spPr>
          <a:xfrm>
            <a:off x="768350" y="1177290"/>
            <a:ext cx="10694670" cy="2461260"/>
          </a:xfrm>
          <a:prstGeom prst="rect">
            <a:avLst/>
          </a:prstGeom>
          <a:noFill/>
        </p:spPr>
        <p:txBody>
          <a:bodyPr wrap="square" rtlCol="0">
            <a:spAutoFit/>
          </a:bodyPr>
          <a:p>
            <a:pPr algn="ctr"/>
            <a:r>
              <a:rPr lang="en-US" sz="1400" u="sng"/>
              <a:t>Key Code Changes Made</a:t>
            </a:r>
            <a:endParaRPr lang="en-US" sz="1400" u="sng"/>
          </a:p>
          <a:p>
            <a:endParaRPr lang="en-US" sz="1400"/>
          </a:p>
          <a:p>
            <a:pPr marL="285750" indent="-285750">
              <a:buFont typeface="Arial" panose="02080604020202020204" pitchFamily="34" charset="0"/>
              <a:buChar char="•"/>
            </a:pPr>
            <a:r>
              <a:rPr lang="en-US" sz="1400"/>
              <a:t> Added backup router node for redundant path</a:t>
            </a:r>
            <a:endParaRPr lang="en-US" sz="1400"/>
          </a:p>
          <a:p>
            <a:pPr marL="285750" indent="-285750">
              <a:buFont typeface="Arial" panose="02080604020202020204" pitchFamily="34" charset="0"/>
              <a:buChar char="•"/>
            </a:pPr>
            <a:endParaRPr lang="en-US" sz="1400"/>
          </a:p>
          <a:p>
            <a:pPr marL="285750" indent="-285750">
              <a:buFont typeface="Arial" panose="02080604020202020204" pitchFamily="34" charset="0"/>
              <a:buChar char="•"/>
            </a:pPr>
            <a:r>
              <a:rPr lang="en-US" sz="1400"/>
              <a:t> Created dual traffic classes: Video (160B/500ms) and Data (1500B/2s)</a:t>
            </a:r>
            <a:endParaRPr lang="en-US" sz="1400"/>
          </a:p>
          <a:p>
            <a:pPr indent="0">
              <a:buFont typeface="Arial" panose="02080604020202020204" pitchFamily="34" charset="0"/>
              <a:buNone/>
            </a:pPr>
            <a:endParaRPr lang="en-US" sz="1400"/>
          </a:p>
          <a:p>
            <a:pPr marL="285750" indent="-285750">
              <a:buFont typeface="Arial" panose="02080604020202020204" pitchFamily="34" charset="0"/>
              <a:buChar char="•"/>
            </a:pPr>
            <a:r>
              <a:rPr lang="en-US" sz="1400"/>
              <a:t> Implemented dual IP addressing: Primary (10.1.1.0/24, 10.1.2.0/24) and Backup (10.1.3.0/24, 10.1.4.0/24)</a:t>
            </a:r>
            <a:endParaRPr lang="en-US" sz="1400"/>
          </a:p>
          <a:p>
            <a:pPr marL="285750" indent="-285750">
              <a:buFont typeface="Arial" panose="02080604020202020204" pitchFamily="34" charset="0"/>
              <a:buChar char="•"/>
            </a:pPr>
            <a:endParaRPr lang="en-US" sz="1400"/>
          </a:p>
          <a:p>
            <a:pPr marL="285750" indent="-285750">
              <a:buFont typeface="Arial" panose="02080604020202020204" pitchFamily="34" charset="0"/>
              <a:buChar char="•"/>
            </a:pPr>
            <a:r>
              <a:rPr lang="en-US" sz="1400"/>
              <a:t>Configured static routing for both paths</a:t>
            </a:r>
            <a:endParaRPr lang="en-US" sz="1400"/>
          </a:p>
          <a:p>
            <a:pPr marL="285750" indent="-285750">
              <a:buFont typeface="Arial" panose="02080604020202020204" pitchFamily="34" charset="0"/>
              <a:buChar char="•"/>
            </a:pPr>
            <a:endParaRPr lang="en-US" sz="1400"/>
          </a:p>
          <a:p>
            <a:pPr marL="285750" indent="-285750">
              <a:buFont typeface="Arial" panose="02080604020202020204" pitchFamily="34" charset="0"/>
              <a:buChar char="•"/>
            </a:pPr>
            <a:r>
              <a:rPr lang="en-US" sz="1400"/>
              <a:t>Integrated NetAnim visualization with automatic launch</a:t>
            </a:r>
            <a:endParaRPr lang="en-US"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0805" y="100330"/>
            <a:ext cx="4060825" cy="5492750"/>
          </a:xfrm>
          <a:prstGeom prst="rect">
            <a:avLst/>
          </a:prstGeom>
          <a:noFill/>
        </p:spPr>
        <p:txBody>
          <a:bodyPr wrap="square" rtlCol="0">
            <a:spAutoFit/>
          </a:bodyPr>
          <a:p>
            <a:pPr algn="l"/>
            <a:r>
              <a:rPr lang="en-US" sz="900" b="1"/>
              <a:t>1. BACKUP ROUTER ADDITION</a:t>
            </a:r>
            <a:endParaRPr lang="en-US" sz="900" b="1"/>
          </a:p>
          <a:p>
            <a:pPr algn="l"/>
            <a:r>
              <a:rPr lang="en-US" sz="900" b="1"/>
              <a:t>cpp</a:t>
            </a:r>
            <a:endParaRPr lang="en-US" sz="900" b="1"/>
          </a:p>
          <a:p>
            <a:pPr algn="l"/>
            <a:endParaRPr lang="en-US" sz="900"/>
          </a:p>
          <a:p>
            <a:pPr algn="l"/>
            <a:r>
              <a:rPr lang="en-US" sz="900"/>
              <a:t>/</a:t>
            </a:r>
            <a:r>
              <a:rPr lang="en-US" sz="900" b="1"/>
              <a:t>/ BEFORE</a:t>
            </a:r>
            <a:r>
              <a:rPr lang="en-US" sz="900"/>
              <a:t>: Only 3 nodes</a:t>
            </a:r>
            <a:endParaRPr lang="en-US" sz="900"/>
          </a:p>
          <a:p>
            <a:pPr algn="l"/>
            <a:r>
              <a:rPr lang="en-US" sz="900"/>
              <a:t>Ptr&lt;Node&gt; n0 = nodes.Get(0);</a:t>
            </a:r>
            <a:endParaRPr lang="en-US" sz="900"/>
          </a:p>
          <a:p>
            <a:pPr algn="l"/>
            <a:r>
              <a:rPr lang="en-US" sz="900"/>
              <a:t>Ptr&lt;Node&gt; n1 = nodes.Get(1);</a:t>
            </a:r>
            <a:endParaRPr lang="en-US" sz="900"/>
          </a:p>
          <a:p>
            <a:pPr algn="l"/>
            <a:r>
              <a:rPr lang="en-US" sz="900"/>
              <a:t>Ptr&lt;Node&gt; n2 = nodes.Get(2);</a:t>
            </a:r>
            <a:endParaRPr lang="en-US" sz="900"/>
          </a:p>
          <a:p>
            <a:pPr algn="l"/>
            <a:endParaRPr lang="en-US" sz="900"/>
          </a:p>
          <a:p>
            <a:pPr algn="l"/>
            <a:r>
              <a:rPr lang="en-US" sz="900"/>
              <a:t>/</a:t>
            </a:r>
            <a:r>
              <a:rPr lang="en-US" sz="900" b="1"/>
              <a:t>/ AFTER:</a:t>
            </a:r>
            <a:r>
              <a:rPr lang="en-US" sz="900"/>
              <a:t> Added backup router</a:t>
            </a:r>
            <a:endParaRPr lang="en-US" sz="900"/>
          </a:p>
          <a:p>
            <a:pPr algn="l"/>
            <a:r>
              <a:rPr lang="en-US" sz="900"/>
              <a:t>Ptr&lt;Node&gt; backupRouter = CreateObject&lt;Node&gt;();</a:t>
            </a:r>
            <a:endParaRPr lang="en-US" sz="900"/>
          </a:p>
          <a:p>
            <a:pPr algn="l"/>
            <a:endParaRPr lang="en-US" sz="900"/>
          </a:p>
          <a:p>
            <a:pPr algn="l"/>
            <a:r>
              <a:rPr lang="en-US" sz="900" b="1"/>
              <a:t>2. DUAL-PATH CREATION</a:t>
            </a:r>
            <a:endParaRPr lang="en-US" sz="900" b="1"/>
          </a:p>
          <a:p>
            <a:pPr algn="l"/>
            <a:r>
              <a:rPr lang="en-US" sz="900" b="1"/>
              <a:t>cpp</a:t>
            </a:r>
            <a:endParaRPr lang="en-US" sz="900" b="1"/>
          </a:p>
          <a:p>
            <a:pPr algn="l"/>
            <a:endParaRPr lang="en-US" sz="900"/>
          </a:p>
          <a:p>
            <a:pPr algn="l"/>
            <a:r>
              <a:rPr lang="en-US" sz="900" b="1"/>
              <a:t>// BEFORE:</a:t>
            </a:r>
            <a:r>
              <a:rPr lang="en-US" sz="900"/>
              <a:t> Single path</a:t>
            </a:r>
            <a:endParaRPr lang="en-US" sz="900"/>
          </a:p>
          <a:p>
            <a:pPr algn="l"/>
            <a:r>
              <a:rPr lang="en-US" sz="900"/>
              <a:t>NodeContainer link1(n0, n1);</a:t>
            </a:r>
            <a:endParaRPr lang="en-US" sz="900"/>
          </a:p>
          <a:p>
            <a:pPr algn="l"/>
            <a:r>
              <a:rPr lang="en-US" sz="900"/>
              <a:t>NodeContainer link2(n1, n2);</a:t>
            </a:r>
            <a:endParaRPr lang="en-US" sz="900"/>
          </a:p>
          <a:p>
            <a:pPr algn="l"/>
            <a:endParaRPr lang="en-US" sz="900"/>
          </a:p>
          <a:p>
            <a:pPr algn="l"/>
            <a:r>
              <a:rPr lang="en-US" sz="900" b="1"/>
              <a:t>// AFTER: </a:t>
            </a:r>
            <a:r>
              <a:rPr lang="en-US" sz="900"/>
              <a:t>Dual paths</a:t>
            </a:r>
            <a:endParaRPr lang="en-US" sz="900"/>
          </a:p>
          <a:p>
            <a:pPr algn="l"/>
            <a:r>
              <a:rPr lang="en-US" sz="900"/>
              <a:t>NodeContainer backup1(n0, backupRouter);</a:t>
            </a:r>
            <a:endParaRPr lang="en-US" sz="900"/>
          </a:p>
          <a:p>
            <a:pPr algn="l"/>
            <a:r>
              <a:rPr lang="en-US" sz="900"/>
              <a:t>NodeContainer backup2(backupRouter, n2);</a:t>
            </a:r>
            <a:endParaRPr lang="en-US" sz="900"/>
          </a:p>
          <a:p>
            <a:pPr algn="l"/>
            <a:endParaRPr lang="en-US" sz="900" b="1"/>
          </a:p>
          <a:p>
            <a:pPr algn="l"/>
            <a:r>
              <a:rPr lang="en-US" sz="900" b="1"/>
              <a:t>3. TRAFFIC CLASSES</a:t>
            </a:r>
            <a:endParaRPr lang="en-US" sz="900" b="1"/>
          </a:p>
          <a:p>
            <a:pPr algn="l"/>
            <a:r>
              <a:rPr lang="en-US" sz="900" b="1"/>
              <a:t>cpp</a:t>
            </a:r>
            <a:endParaRPr lang="en-US" sz="900" b="1"/>
          </a:p>
          <a:p>
            <a:pPr algn="l"/>
            <a:endParaRPr lang="en-US" sz="900"/>
          </a:p>
          <a:p>
            <a:pPr algn="l"/>
            <a:r>
              <a:rPr lang="en-US" sz="900" b="1"/>
              <a:t>// BEFORE:</a:t>
            </a:r>
            <a:r>
              <a:rPr lang="en-US" sz="900"/>
              <a:t> One traffic type</a:t>
            </a:r>
            <a:endParaRPr lang="en-US" sz="900"/>
          </a:p>
          <a:p>
            <a:pPr algn="l"/>
            <a:r>
              <a:rPr lang="en-US" sz="900"/>
              <a:t>UdpEchoClientHelper client(addr, 9);</a:t>
            </a:r>
            <a:endParaRPr lang="en-US" sz="900"/>
          </a:p>
          <a:p>
            <a:pPr algn="l"/>
            <a:r>
              <a:rPr lang="en-US" sz="900"/>
              <a:t>client.SetAttribute("PacketSize", UintegerValue(1024));</a:t>
            </a:r>
            <a:endParaRPr lang="en-US" sz="900"/>
          </a:p>
          <a:p>
            <a:pPr algn="l"/>
            <a:endParaRPr lang="en-US" sz="900"/>
          </a:p>
          <a:p>
            <a:pPr algn="l"/>
            <a:r>
              <a:rPr lang="en-US" sz="900" b="1"/>
              <a:t>// AFTER:</a:t>
            </a:r>
            <a:r>
              <a:rPr lang="en-US" sz="900"/>
              <a:t> Two traffic types</a:t>
            </a:r>
            <a:endParaRPr lang="en-US" sz="900"/>
          </a:p>
          <a:p>
            <a:pPr algn="l"/>
            <a:r>
              <a:rPr lang="en-US" sz="900"/>
              <a:t>UdpEchoClientHelper videoClient(addr, 5000);</a:t>
            </a:r>
            <a:endParaRPr lang="en-US" sz="900"/>
          </a:p>
          <a:p>
            <a:pPr algn="l"/>
            <a:r>
              <a:rPr lang="en-US" sz="900"/>
              <a:t>videoClient.SetAttribute("PacketSize", UintegerValue(160));</a:t>
            </a:r>
            <a:endParaRPr lang="en-US" sz="900"/>
          </a:p>
          <a:p>
            <a:pPr algn="l"/>
            <a:r>
              <a:rPr lang="en-US" sz="900"/>
              <a:t>videoClient.SetAttribute("Interval", TimeValue(Seconds(0.5)));</a:t>
            </a:r>
            <a:endParaRPr lang="en-US" sz="900"/>
          </a:p>
          <a:p>
            <a:pPr algn="l"/>
            <a:endParaRPr lang="en-US" sz="900"/>
          </a:p>
          <a:p>
            <a:pPr algn="l"/>
            <a:r>
              <a:rPr lang="en-US" sz="900"/>
              <a:t>UdpEchoClientHelper dataClient(addr, 5001);</a:t>
            </a:r>
            <a:endParaRPr lang="en-US" sz="900"/>
          </a:p>
          <a:p>
            <a:pPr algn="l"/>
            <a:r>
              <a:rPr lang="en-US" sz="900"/>
              <a:t>dataClient.SetAttribute("PacketSize", UintegerValue(1500));</a:t>
            </a:r>
            <a:endParaRPr lang="en-US" sz="900"/>
          </a:p>
          <a:p>
            <a:pPr algn="l"/>
            <a:r>
              <a:rPr lang="en-US" sz="900"/>
              <a:t>dataClient.SetAttribute("Interval", TimeValue(Seconds(2.0)));</a:t>
            </a:r>
            <a:endParaRPr lang="en-US" sz="900"/>
          </a:p>
          <a:p>
            <a:pPr algn="l"/>
            <a:endParaRPr lang="en-US" sz="900"/>
          </a:p>
          <a:p>
            <a:pPr algn="l"/>
            <a:endParaRPr lang="en-US" sz="900"/>
          </a:p>
        </p:txBody>
      </p:sp>
      <p:sp>
        <p:nvSpPr>
          <p:cNvPr id="3" name="Text Box 2"/>
          <p:cNvSpPr txBox="1"/>
          <p:nvPr/>
        </p:nvSpPr>
        <p:spPr>
          <a:xfrm>
            <a:off x="4952365" y="100330"/>
            <a:ext cx="4081780" cy="5908040"/>
          </a:xfrm>
          <a:prstGeom prst="rect">
            <a:avLst/>
          </a:prstGeom>
          <a:noFill/>
        </p:spPr>
        <p:txBody>
          <a:bodyPr wrap="square" rtlCol="0">
            <a:spAutoFit/>
          </a:bodyPr>
          <a:p>
            <a:pPr algn="l"/>
            <a:r>
              <a:rPr lang="en-US" sz="900">
                <a:sym typeface="+mn-ea"/>
              </a:rPr>
              <a:t>4</a:t>
            </a:r>
            <a:r>
              <a:rPr lang="en-US" sz="900" b="1">
                <a:sym typeface="+mn-ea"/>
              </a:rPr>
              <a:t>. IP ADDRESSING EXTENSION</a:t>
            </a:r>
            <a:endParaRPr lang="en-US" sz="900" b="1"/>
          </a:p>
          <a:p>
            <a:pPr algn="l"/>
            <a:r>
              <a:rPr lang="en-US" sz="900" b="1">
                <a:sym typeface="+mn-ea"/>
              </a:rPr>
              <a:t>cpp</a:t>
            </a:r>
            <a:endParaRPr lang="en-US" sz="900" b="1"/>
          </a:p>
          <a:p>
            <a:pPr algn="l"/>
            <a:endParaRPr lang="en-US" sz="900"/>
          </a:p>
          <a:p>
            <a:pPr algn="l"/>
            <a:r>
              <a:rPr lang="en-US" sz="900" b="1">
                <a:sym typeface="+mn-ea"/>
              </a:rPr>
              <a:t>// BEFORE: 2 networks</a:t>
            </a:r>
            <a:endParaRPr lang="en-US" sz="900" b="1"/>
          </a:p>
          <a:p>
            <a:pPr algn="l"/>
            <a:r>
              <a:rPr lang="en-US" sz="900">
                <a:sym typeface="+mn-ea"/>
              </a:rPr>
              <a:t>address.SetBase("10.1.1.0", "255.255.255.0");</a:t>
            </a:r>
            <a:endParaRPr lang="en-US" sz="900"/>
          </a:p>
          <a:p>
            <a:pPr algn="l"/>
            <a:r>
              <a:rPr lang="en-US" sz="900">
                <a:sym typeface="+mn-ea"/>
              </a:rPr>
              <a:t>address.SetBase("10.1.2.0", "255.255.255.0");</a:t>
            </a:r>
            <a:endParaRPr lang="en-US" sz="900"/>
          </a:p>
          <a:p>
            <a:pPr algn="l"/>
            <a:endParaRPr lang="en-US" sz="900"/>
          </a:p>
          <a:p>
            <a:pPr algn="l"/>
            <a:r>
              <a:rPr lang="en-US" sz="900" b="1">
                <a:sym typeface="+mn-ea"/>
              </a:rPr>
              <a:t>// AFTER: 4 networks</a:t>
            </a:r>
            <a:endParaRPr lang="en-US" sz="900" b="1"/>
          </a:p>
          <a:p>
            <a:pPr algn="l"/>
            <a:r>
              <a:rPr lang="en-US" sz="900">
                <a:sym typeface="+mn-ea"/>
              </a:rPr>
              <a:t>address.SetBase("10.1.3.0", "255.255.255.0");</a:t>
            </a:r>
            <a:endParaRPr lang="en-US" sz="900"/>
          </a:p>
          <a:p>
            <a:pPr algn="l"/>
            <a:r>
              <a:rPr lang="en-US" sz="900">
                <a:sym typeface="+mn-ea"/>
              </a:rPr>
              <a:t>address.SetBase("10.1.4.0", "255.255.255.0");</a:t>
            </a:r>
            <a:endParaRPr lang="en-US" sz="900"/>
          </a:p>
          <a:p>
            <a:pPr algn="l"/>
            <a:endParaRPr lang="en-US" sz="900"/>
          </a:p>
          <a:p>
            <a:pPr algn="l"/>
            <a:r>
              <a:rPr lang="en-US" sz="900">
                <a:sym typeface="+mn-ea"/>
              </a:rPr>
              <a:t>5</a:t>
            </a:r>
            <a:r>
              <a:rPr lang="en-US" sz="900" b="1">
                <a:sym typeface="+mn-ea"/>
              </a:rPr>
              <a:t>. ROUTING TABLES</a:t>
            </a:r>
            <a:endParaRPr lang="en-US" sz="900" b="1"/>
          </a:p>
          <a:p>
            <a:pPr algn="l"/>
            <a:r>
              <a:rPr lang="en-US" sz="900" b="1">
                <a:sym typeface="+mn-ea"/>
              </a:rPr>
              <a:t>cpp</a:t>
            </a:r>
            <a:endParaRPr lang="en-US" sz="900" b="1"/>
          </a:p>
          <a:p>
            <a:pPr algn="l"/>
            <a:endParaRPr lang="en-US" sz="900"/>
          </a:p>
          <a:p>
            <a:pPr algn="l"/>
            <a:r>
              <a:rPr lang="en-US" sz="900" b="1">
                <a:sym typeface="+mn-ea"/>
              </a:rPr>
              <a:t>// BEFORE:</a:t>
            </a:r>
            <a:r>
              <a:rPr lang="en-US" sz="900">
                <a:sym typeface="+mn-ea"/>
              </a:rPr>
              <a:t> Single route</a:t>
            </a:r>
            <a:endParaRPr lang="en-US" sz="900"/>
          </a:p>
          <a:p>
            <a:pPr algn="l"/>
            <a:r>
              <a:rPr lang="en-US" sz="900">
                <a:sym typeface="+mn-ea"/>
              </a:rPr>
              <a:t>r0-&gt;AddNetworkRouteTo("10.1.2.0", mask, "10.1.1.2", 1);</a:t>
            </a:r>
            <a:endParaRPr lang="en-US" sz="900"/>
          </a:p>
          <a:p>
            <a:pPr lvl="3" algn="l"/>
            <a:endParaRPr lang="en-US" sz="900"/>
          </a:p>
          <a:p>
            <a:pPr algn="l"/>
            <a:r>
              <a:rPr lang="en-US" sz="900" b="1">
                <a:sym typeface="+mn-ea"/>
              </a:rPr>
              <a:t>// AFTER: </a:t>
            </a:r>
            <a:r>
              <a:rPr lang="en-US" sz="900">
                <a:sym typeface="+mn-ea"/>
              </a:rPr>
              <a:t>Dual routes</a:t>
            </a:r>
            <a:endParaRPr lang="en-US" sz="900" b="1"/>
          </a:p>
          <a:p>
            <a:pPr algn="l"/>
            <a:r>
              <a:rPr lang="en-US" sz="900">
                <a:sym typeface="+mn-ea"/>
              </a:rPr>
              <a:t>r0-&gt;AddNetworkRouteTo("10.1.2.0", mask, "10.1.1.2", 1);</a:t>
            </a:r>
            <a:endParaRPr lang="en-US" sz="900"/>
          </a:p>
          <a:p>
            <a:pPr algn="l"/>
            <a:r>
              <a:rPr lang="en-US" sz="900">
                <a:sym typeface="+mn-ea"/>
              </a:rPr>
              <a:t>r0-&gt;AddNetworkRouteTo("10.1.4.0", mask, "10.1.3.2", 2);</a:t>
            </a:r>
            <a:endParaRPr lang="en-US" sz="900"/>
          </a:p>
          <a:p>
            <a:pPr algn="l"/>
            <a:endParaRPr lang="en-US" sz="900"/>
          </a:p>
          <a:p>
            <a:pPr algn="l"/>
            <a:r>
              <a:rPr lang="en-US" sz="900">
                <a:sym typeface="+mn-ea"/>
              </a:rPr>
              <a:t>6</a:t>
            </a:r>
            <a:r>
              <a:rPr lang="en-US" sz="900" b="1">
                <a:sym typeface="+mn-ea"/>
              </a:rPr>
              <a:t>. NETANIM ENHANCEMENT</a:t>
            </a:r>
            <a:endParaRPr lang="en-US" sz="900" b="1"/>
          </a:p>
          <a:p>
            <a:pPr algn="l"/>
            <a:r>
              <a:rPr lang="en-US" sz="900" b="1">
                <a:sym typeface="+mn-ea"/>
              </a:rPr>
              <a:t>cpp</a:t>
            </a:r>
            <a:endParaRPr lang="en-US" sz="900" b="1"/>
          </a:p>
          <a:p>
            <a:pPr algn="l"/>
            <a:endParaRPr lang="en-US" sz="900"/>
          </a:p>
          <a:p>
            <a:pPr algn="l"/>
            <a:r>
              <a:rPr lang="en-US" sz="900" b="1">
                <a:sym typeface="+mn-ea"/>
              </a:rPr>
              <a:t>// BEFORE: </a:t>
            </a:r>
            <a:r>
              <a:rPr lang="en-US" sz="900">
                <a:sym typeface="+mn-ea"/>
              </a:rPr>
              <a:t>Basic animation</a:t>
            </a:r>
            <a:endParaRPr lang="en-US" sz="900"/>
          </a:p>
          <a:p>
            <a:pPr algn="l"/>
            <a:r>
              <a:rPr lang="en-US" sz="900">
                <a:sym typeface="+mn-ea"/>
              </a:rPr>
              <a:t>AnimationInterface anim("scratch/router-static-routing.xml");</a:t>
            </a:r>
            <a:endParaRPr lang="en-US" sz="900"/>
          </a:p>
          <a:p>
            <a:pPr algn="l"/>
            <a:endParaRPr lang="en-US" sz="900" b="1"/>
          </a:p>
          <a:p>
            <a:pPr algn="l"/>
            <a:r>
              <a:rPr lang="en-US" sz="900" b="1">
                <a:sym typeface="+mn-ea"/>
              </a:rPr>
              <a:t>// AFTER: </a:t>
            </a:r>
            <a:r>
              <a:rPr lang="en-US" sz="900">
                <a:sym typeface="+mn-ea"/>
              </a:rPr>
              <a:t>Enhanced animation</a:t>
            </a:r>
            <a:endParaRPr lang="en-US" sz="900"/>
          </a:p>
          <a:p>
            <a:pPr algn="l"/>
            <a:r>
              <a:rPr lang="en-US" sz="900">
                <a:sym typeface="+mn-ea"/>
              </a:rPr>
              <a:t>AnimationInterface anim("scratch/exercise5-pbr.xml");</a:t>
            </a:r>
            <a:endParaRPr lang="en-US" sz="900"/>
          </a:p>
          <a:p>
            <a:pPr algn="l"/>
            <a:r>
              <a:rPr lang="en-US" sz="900">
                <a:sym typeface="+mn-ea"/>
              </a:rPr>
              <a:t>anim.UpdateNodeDescription(backupRouter, "Backup Router");</a:t>
            </a:r>
            <a:endParaRPr lang="en-US" sz="900"/>
          </a:p>
          <a:p>
            <a:pPr algn="l"/>
            <a:r>
              <a:rPr lang="en-US" sz="900">
                <a:sym typeface="+mn-ea"/>
              </a:rPr>
              <a:t>anim.UpdateNodeColor(backupRouter, 255, 165, 0);</a:t>
            </a:r>
            <a:endParaRPr lang="en-US" sz="900"/>
          </a:p>
          <a:p>
            <a:pPr algn="l"/>
            <a:endParaRPr lang="en-US" sz="900"/>
          </a:p>
          <a:p>
            <a:pPr algn="l"/>
            <a:r>
              <a:rPr lang="en-US" sz="900" b="1">
                <a:sym typeface="+mn-ea"/>
              </a:rPr>
              <a:t>7. SIMULATION CONTROL</a:t>
            </a:r>
            <a:endParaRPr lang="en-US" sz="900" b="1"/>
          </a:p>
          <a:p>
            <a:pPr algn="l"/>
            <a:r>
              <a:rPr lang="en-US" sz="900" b="1">
                <a:sym typeface="+mn-ea"/>
              </a:rPr>
              <a:t>cpp</a:t>
            </a:r>
            <a:endParaRPr lang="en-US" sz="900" b="1"/>
          </a:p>
          <a:p>
            <a:pPr algn="l"/>
            <a:endParaRPr lang="en-US" sz="900"/>
          </a:p>
          <a:p>
            <a:pPr algn="l"/>
            <a:r>
              <a:rPr lang="en-US" sz="900" b="1">
                <a:sym typeface="+mn-ea"/>
              </a:rPr>
              <a:t>// BEFORE: </a:t>
            </a:r>
            <a:r>
              <a:rPr lang="en-US" sz="900">
                <a:sym typeface="+mn-ea"/>
              </a:rPr>
              <a:t>Short simulation</a:t>
            </a:r>
            <a:endParaRPr lang="en-US" sz="900"/>
          </a:p>
          <a:p>
            <a:pPr algn="l"/>
            <a:r>
              <a:rPr lang="en-US" sz="900">
                <a:sym typeface="+mn-ea"/>
              </a:rPr>
              <a:t>Simulator::Stop(Seconds(11.0));</a:t>
            </a:r>
            <a:endParaRPr lang="en-US" sz="900"/>
          </a:p>
          <a:p>
            <a:pPr algn="l"/>
            <a:endParaRPr lang="en-US" sz="900"/>
          </a:p>
          <a:p>
            <a:pPr algn="l"/>
            <a:r>
              <a:rPr lang="en-US" sz="900">
                <a:sym typeface="+mn-ea"/>
              </a:rPr>
              <a:t>//</a:t>
            </a:r>
            <a:r>
              <a:rPr lang="en-US" sz="900" b="1">
                <a:sym typeface="+mn-ea"/>
              </a:rPr>
              <a:t> AFTER: </a:t>
            </a:r>
            <a:r>
              <a:rPr lang="en-US" sz="900">
                <a:sym typeface="+mn-ea"/>
              </a:rPr>
              <a:t>Extended simulation</a:t>
            </a:r>
            <a:endParaRPr lang="en-US" sz="900"/>
          </a:p>
          <a:p>
            <a:pPr algn="l"/>
            <a:r>
              <a:rPr lang="en-US" sz="900">
                <a:sym typeface="+mn-ea"/>
              </a:rPr>
              <a:t>Simulator::Stop(Seconds(15.0));</a:t>
            </a:r>
            <a:endParaRPr lang="en-US" sz="900"/>
          </a:p>
          <a:p>
            <a:pPr algn="l"/>
            <a:endParaRPr lang="en-US" sz="900"/>
          </a:p>
          <a:p>
            <a:endParaRPr lang="en-US" sz="900"/>
          </a:p>
        </p:txBody>
      </p:sp>
      <p:sp>
        <p:nvSpPr>
          <p:cNvPr id="4" name="Text Box 3"/>
          <p:cNvSpPr txBox="1"/>
          <p:nvPr/>
        </p:nvSpPr>
        <p:spPr>
          <a:xfrm>
            <a:off x="9248140" y="274955"/>
            <a:ext cx="2789555" cy="2584450"/>
          </a:xfrm>
          <a:prstGeom prst="rect">
            <a:avLst/>
          </a:prstGeom>
          <a:noFill/>
        </p:spPr>
        <p:txBody>
          <a:bodyPr wrap="square" rtlCol="0">
            <a:spAutoFit/>
          </a:bodyPr>
          <a:p>
            <a:pPr algn="l"/>
            <a:r>
              <a:rPr lang="en-US" sz="900" b="1">
                <a:sym typeface="+mn-ea"/>
              </a:rPr>
              <a:t>8. OUTPUT MESSAGES</a:t>
            </a:r>
            <a:endParaRPr lang="en-US" sz="900" b="1"/>
          </a:p>
          <a:p>
            <a:pPr algn="l"/>
            <a:r>
              <a:rPr lang="en-US" sz="900" b="1">
                <a:sym typeface="+mn-ea"/>
              </a:rPr>
              <a:t>cpp</a:t>
            </a:r>
            <a:endParaRPr lang="en-US" sz="900" b="1"/>
          </a:p>
          <a:p>
            <a:pPr algn="l"/>
            <a:endParaRPr lang="en-US" sz="900"/>
          </a:p>
          <a:p>
            <a:pPr algn="l"/>
            <a:r>
              <a:rPr lang="en-US" sz="900" b="1">
                <a:sym typeface="+mn-ea"/>
              </a:rPr>
              <a:t>// BEFORE:</a:t>
            </a:r>
            <a:r>
              <a:rPr lang="en-US" sz="900">
                <a:sym typeface="+mn-ea"/>
              </a:rPr>
              <a:t> Generic output</a:t>
            </a:r>
            <a:endParaRPr lang="en-US" sz="900"/>
          </a:p>
          <a:p>
            <a:pPr algn="l"/>
            <a:r>
              <a:rPr lang="en-US" sz="900">
                <a:sym typeface="+mn-ea"/>
              </a:rPr>
              <a:t>std::cout &lt;&lt; "Animation saved to: router-static-routing.xml";</a:t>
            </a:r>
            <a:endParaRPr lang="en-US" sz="900"/>
          </a:p>
          <a:p>
            <a:pPr algn="l"/>
            <a:endParaRPr lang="en-US" sz="900"/>
          </a:p>
          <a:p>
            <a:pPr algn="l"/>
            <a:r>
              <a:rPr lang="en-US" sz="900" b="1">
                <a:sym typeface="+mn-ea"/>
              </a:rPr>
              <a:t>// AFTER: </a:t>
            </a:r>
            <a:r>
              <a:rPr lang="en-US" sz="900">
                <a:sym typeface="+mn-ea"/>
              </a:rPr>
              <a:t>Exercise-specific</a:t>
            </a:r>
            <a:endParaRPr lang="en-US" sz="900"/>
          </a:p>
          <a:p>
            <a:pPr algn="l"/>
            <a:r>
              <a:rPr lang="en-US" sz="900">
                <a:sym typeface="+mn-ea"/>
              </a:rPr>
              <a:t>std::cout &lt;&lt; "=== Exercise 5: PBR Simulation ===";</a:t>
            </a:r>
            <a:endParaRPr lang="en-US" sz="900"/>
          </a:p>
          <a:p>
            <a:pPr algn="l"/>
            <a:r>
              <a:rPr lang="en-US" sz="900">
                <a:sym typeface="+mn-ea"/>
              </a:rPr>
              <a:t>std::cout &lt;&lt; "Video: 160B/500ms, Data: 1500B/2s";</a:t>
            </a:r>
            <a:endParaRPr lang="en-US" sz="900"/>
          </a:p>
          <a:p>
            <a:pPr algn="l"/>
            <a:endParaRPr lang="en-US"/>
          </a:p>
          <a:p>
            <a:endParaRPr lang="en-US"/>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creenshot_2025-12-02_14_58_58"/>
          <p:cNvPicPr>
            <a:picLocks noChangeAspect="1"/>
          </p:cNvPicPr>
          <p:nvPr/>
        </p:nvPicPr>
        <p:blipFill>
          <a:blip r:embed="rId1"/>
          <a:srcRect l="-782" t="-6832"/>
          <a:stretch>
            <a:fillRect/>
          </a:stretch>
        </p:blipFill>
        <p:spPr>
          <a:xfrm>
            <a:off x="0" y="3145155"/>
            <a:ext cx="6239510" cy="3712845"/>
          </a:xfrm>
          <a:prstGeom prst="rect">
            <a:avLst/>
          </a:prstGeom>
        </p:spPr>
      </p:pic>
      <p:sp>
        <p:nvSpPr>
          <p:cNvPr id="3" name="Text Box 2"/>
          <p:cNvSpPr txBox="1"/>
          <p:nvPr/>
        </p:nvSpPr>
        <p:spPr>
          <a:xfrm>
            <a:off x="8937625" y="3448050"/>
            <a:ext cx="2540000" cy="2891790"/>
          </a:xfrm>
          <a:prstGeom prst="rect">
            <a:avLst/>
          </a:prstGeom>
          <a:noFill/>
        </p:spPr>
        <p:txBody>
          <a:bodyPr wrap="square" rtlCol="0" anchor="t">
            <a:spAutoFit/>
          </a:bodyPr>
          <a:p>
            <a:r>
              <a:rPr lang="en-US" sz="1400"/>
              <a:t> PBR Simulation Complete </a:t>
            </a:r>
            <a:endParaRPr lang="en-US" sz="1400"/>
          </a:p>
          <a:p>
            <a:endParaRPr lang="en-US" sz="1400"/>
          </a:p>
          <a:p>
            <a:r>
              <a:rPr lang="en-US" sz="1400"/>
              <a:t>Animation: scratch/exercise5-pbr.xml</a:t>
            </a:r>
            <a:endParaRPr lang="en-US" sz="1400"/>
          </a:p>
          <a:p>
            <a:r>
              <a:rPr lang="en-US" sz="1400"/>
              <a:t>Routing: scratch/exercise5-pbr.routes</a:t>
            </a:r>
            <a:endParaRPr lang="en-US" sz="1400"/>
          </a:p>
          <a:p>
            <a:r>
              <a:rPr lang="en-US" sz="1400"/>
              <a:t>PCAP: scratch/exercise5-pbr-*.pcap</a:t>
            </a:r>
            <a:endParaRPr lang="en-US" sz="1400"/>
          </a:p>
          <a:p>
            <a:r>
              <a:rPr lang="en-US" sz="1400"/>
              <a:t>Video: 160B packets every 500ms</a:t>
            </a:r>
            <a:endParaRPr lang="en-US" sz="1400"/>
          </a:p>
          <a:p>
            <a:r>
              <a:rPr lang="en-US" sz="1400"/>
              <a:t>Data: 1500B packets every 2s</a:t>
            </a:r>
            <a:endParaRPr lang="en-US" sz="1400"/>
          </a:p>
        </p:txBody>
      </p:sp>
      <p:sp>
        <p:nvSpPr>
          <p:cNvPr id="4" name="Text Box 3"/>
          <p:cNvSpPr txBox="1"/>
          <p:nvPr/>
        </p:nvSpPr>
        <p:spPr>
          <a:xfrm>
            <a:off x="9104630" y="2930525"/>
            <a:ext cx="2471420" cy="368300"/>
          </a:xfrm>
          <a:prstGeom prst="rect">
            <a:avLst/>
          </a:prstGeom>
          <a:noFill/>
        </p:spPr>
        <p:txBody>
          <a:bodyPr wrap="square" rtlCol="0">
            <a:spAutoFit/>
          </a:bodyPr>
          <a:p>
            <a:r>
              <a:rPr lang="en-US" b="1" u="sng"/>
              <a:t>Terminal output</a:t>
            </a:r>
            <a:endParaRPr lang="en-US" b="1" u="sng"/>
          </a:p>
        </p:txBody>
      </p:sp>
      <p:sp>
        <p:nvSpPr>
          <p:cNvPr id="5" name="Text Box 4"/>
          <p:cNvSpPr txBox="1"/>
          <p:nvPr/>
        </p:nvSpPr>
        <p:spPr>
          <a:xfrm>
            <a:off x="0" y="33020"/>
            <a:ext cx="5537200" cy="2030095"/>
          </a:xfrm>
          <a:prstGeom prst="rect">
            <a:avLst/>
          </a:prstGeom>
          <a:noFill/>
        </p:spPr>
        <p:txBody>
          <a:bodyPr wrap="square" rtlCol="0">
            <a:spAutoFit/>
          </a:bodyPr>
          <a:p>
            <a:pPr algn="ctr"/>
            <a:r>
              <a:rPr lang="en-US" b="1"/>
              <a:t>NetAnim Visualization</a:t>
            </a:r>
            <a:endParaRPr lang="en-US" b="1"/>
          </a:p>
          <a:p>
            <a:r>
              <a:rPr lang="en-US"/>
              <a:t>Show NetAnim window with:</a:t>
            </a:r>
            <a:endParaRPr lang="en-US"/>
          </a:p>
          <a:p>
            <a:pPr marL="285750" indent="-285750">
              <a:buFont typeface="Arial" panose="02080604020202020204" pitchFamily="34" charset="0"/>
              <a:buChar char="•"/>
            </a:pPr>
            <a:r>
              <a:rPr lang="en-US"/>
              <a:t>    4 nodes (Client, Primary Router, Backup Router, Server)</a:t>
            </a:r>
            <a:endParaRPr lang="en-US"/>
          </a:p>
          <a:p>
            <a:pPr marL="285750" indent="-285750">
              <a:buFont typeface="Arial" panose="02080604020202020204" pitchFamily="34" charset="0"/>
              <a:buChar char="•"/>
            </a:pPr>
            <a:r>
              <a:rPr lang="en-US"/>
              <a:t>    Dual path connections</a:t>
            </a:r>
            <a:endParaRPr lang="en-US"/>
          </a:p>
          <a:p>
            <a:pPr marL="285750" indent="-285750">
              <a:buFont typeface="Arial" panose="02080604020202020204" pitchFamily="34" charset="0"/>
              <a:buChar char="•"/>
            </a:pPr>
            <a:r>
              <a:rPr lang="en-US"/>
              <a:t>    Packet flow animation</a:t>
            </a:r>
            <a:endParaRPr lang="en-US"/>
          </a:p>
          <a:p>
            <a:pPr marL="285750" indent="-285750">
              <a:buFont typeface="Arial" panose="02080604020202020204" pitchFamily="34" charset="0"/>
              <a:buChar char="•"/>
            </a:pPr>
            <a:r>
              <a:rPr lang="en-US"/>
              <a:t>    Node statistics</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885950" y="1792605"/>
            <a:ext cx="6675120" cy="2553335"/>
          </a:xfrm>
          <a:prstGeom prst="rect">
            <a:avLst/>
          </a:prstGeom>
          <a:noFill/>
        </p:spPr>
        <p:txBody>
          <a:bodyPr wrap="square" rtlCol="0">
            <a:spAutoFit/>
          </a:bodyPr>
          <a:p>
            <a:pPr algn="ctr"/>
            <a:r>
              <a:rPr lang="en-US" sz="4000"/>
              <a:t>Exercise 4</a:t>
            </a:r>
            <a:endParaRPr lang="en-US" sz="4000"/>
          </a:p>
          <a:p>
            <a:pPr algn="ctr"/>
            <a:r>
              <a:rPr lang="en-US" sz="4000"/>
              <a:t>  Multi-Hop WAN Architecture with Fault Tolerance</a:t>
            </a:r>
            <a:endParaRPr lang="en-US" sz="4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98780" y="285115"/>
            <a:ext cx="9885045" cy="368300"/>
          </a:xfrm>
          <a:prstGeom prst="rect">
            <a:avLst/>
          </a:prstGeom>
          <a:noFill/>
        </p:spPr>
        <p:txBody>
          <a:bodyPr wrap="square" rtlCol="0">
            <a:spAutoFit/>
          </a:bodyPr>
          <a:p>
            <a:pPr algn="ctr"/>
            <a:r>
              <a:rPr lang="en-US" b="1"/>
              <a:t>Introduction </a:t>
            </a:r>
            <a:endParaRPr lang="en-US" b="1"/>
          </a:p>
        </p:txBody>
      </p:sp>
      <p:sp>
        <p:nvSpPr>
          <p:cNvPr id="3" name="Text Box 2"/>
          <p:cNvSpPr txBox="1"/>
          <p:nvPr/>
        </p:nvSpPr>
        <p:spPr>
          <a:xfrm>
            <a:off x="481330" y="1075055"/>
            <a:ext cx="11515090" cy="5323205"/>
          </a:xfrm>
          <a:prstGeom prst="rect">
            <a:avLst/>
          </a:prstGeom>
          <a:noFill/>
        </p:spPr>
        <p:txBody>
          <a:bodyPr wrap="square" rtlCol="0">
            <a:spAutoFit/>
          </a:bodyPr>
          <a:p>
            <a:r>
              <a:rPr lang="en-US" sz="2000"/>
              <a:t>RegionalBank operates a three-site WAN architecture with main Data Center (DC-A) in City A, Disaster Recovery site (DR-B) in City B, and Branch office (Branch-C) in City C. This simulation models their multi-hop WAN to analyze fault tolerance capabilities using static routing. The primary objective is to demonstrate how static routing handles link failures and whether automatic failover occurs to backup paths.</a:t>
            </a:r>
            <a:endParaRPr lang="en-US" sz="2000"/>
          </a:p>
          <a:p>
            <a:endParaRPr lang="en-US" sz="2000"/>
          </a:p>
          <a:p>
            <a:r>
              <a:rPr lang="en-US" sz="2000"/>
              <a:t>Key Objectives:</a:t>
            </a:r>
            <a:endParaRPr lang="en-US" sz="2000"/>
          </a:p>
          <a:p>
            <a:endParaRPr lang="en-US" sz="2000"/>
          </a:p>
          <a:p>
            <a:pPr marL="342900" indent="-342900">
              <a:buFont typeface="Arial" panose="02080604020202020204" pitchFamily="34" charset="0"/>
              <a:buChar char="•"/>
            </a:pPr>
            <a:r>
              <a:rPr lang="en-US" sz="2000"/>
              <a:t> Design and implement a three-node WAN topology with redundant paths</a:t>
            </a:r>
            <a:endParaRPr lang="en-US" sz="2000"/>
          </a:p>
          <a:p>
            <a:pPr marL="342900" indent="-342900">
              <a:buFont typeface="Arial" panose="02080604020202020204" pitchFamily="34" charset="0"/>
              <a:buChar char="•"/>
            </a:pPr>
            <a:endParaRPr lang="en-US" sz="2000"/>
          </a:p>
          <a:p>
            <a:pPr marL="342900" indent="-342900">
              <a:buFont typeface="Arial" panose="02080604020202020204" pitchFamily="34" charset="0"/>
              <a:buChar char="•"/>
            </a:pPr>
            <a:r>
              <a:rPr lang="en-US" sz="2000"/>
              <a:t> Configure static routing tables for optimal path selection</a:t>
            </a:r>
            <a:endParaRPr lang="en-US" sz="2000"/>
          </a:p>
          <a:p>
            <a:pPr marL="342900" indent="-342900">
              <a:buFont typeface="Arial" panose="02080604020202020204" pitchFamily="34" charset="0"/>
              <a:buChar char="•"/>
            </a:pPr>
            <a:endParaRPr lang="en-US" sz="2000"/>
          </a:p>
          <a:p>
            <a:pPr marL="342900" indent="-342900">
              <a:buFont typeface="Arial" panose="02080604020202020204" pitchFamily="34" charset="0"/>
              <a:buChar char="•"/>
            </a:pPr>
            <a:r>
              <a:rPr lang="en-US" sz="2000"/>
              <a:t> Simulate link failure to test fault tolerance</a:t>
            </a:r>
            <a:endParaRPr lang="en-US" sz="2000"/>
          </a:p>
          <a:p>
            <a:pPr marL="342900" indent="-342900">
              <a:buFont typeface="Arial" panose="02080604020202020204" pitchFamily="34" charset="0"/>
              <a:buChar char="•"/>
            </a:pPr>
            <a:endParaRPr lang="en-US" sz="2000"/>
          </a:p>
          <a:p>
            <a:pPr marL="342900" indent="-342900">
              <a:buFont typeface="Arial" panose="02080604020202020204" pitchFamily="34" charset="0"/>
              <a:buChar char="•"/>
            </a:pPr>
            <a:r>
              <a:rPr lang="en-US" sz="2000"/>
              <a:t> Analyze packet delivery during normal, failure, and recovery phases</a:t>
            </a:r>
            <a:endParaRPr lang="en-US" sz="2000"/>
          </a:p>
          <a:p>
            <a:pPr marL="342900" indent="-342900">
              <a:buFont typeface="Arial" panose="02080604020202020204" pitchFamily="34" charset="0"/>
              <a:buChar char="•"/>
            </a:pPr>
            <a:endParaRPr lang="en-US" sz="2000"/>
          </a:p>
          <a:p>
            <a:pPr marL="342900" indent="-342900">
              <a:buFont typeface="Arial" panose="02080604020202020204" pitchFamily="34" charset="0"/>
              <a:buChar char="•"/>
            </a:pPr>
            <a:r>
              <a:rPr lang="en-US" sz="2000"/>
              <a:t> Evaluate static routing limitations for business continuity</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55320" y="385445"/>
            <a:ext cx="10528300" cy="368300"/>
          </a:xfrm>
          <a:prstGeom prst="rect">
            <a:avLst/>
          </a:prstGeom>
          <a:noFill/>
        </p:spPr>
        <p:txBody>
          <a:bodyPr wrap="square" rtlCol="0">
            <a:spAutoFit/>
          </a:bodyPr>
          <a:p>
            <a:pPr algn="ctr"/>
            <a:r>
              <a:rPr lang="en-US"/>
              <a:t>Topology Design and Implementation</a:t>
            </a:r>
            <a:endParaRPr lang="en-US"/>
          </a:p>
        </p:txBody>
      </p:sp>
      <p:sp>
        <p:nvSpPr>
          <p:cNvPr id="4" name="Text Box 3"/>
          <p:cNvSpPr txBox="1"/>
          <p:nvPr/>
        </p:nvSpPr>
        <p:spPr>
          <a:xfrm>
            <a:off x="391795" y="1149350"/>
            <a:ext cx="2213610" cy="368300"/>
          </a:xfrm>
          <a:prstGeom prst="rect">
            <a:avLst/>
          </a:prstGeom>
          <a:noFill/>
        </p:spPr>
        <p:txBody>
          <a:bodyPr wrap="square" rtlCol="0">
            <a:spAutoFit/>
          </a:bodyPr>
          <a:p>
            <a:r>
              <a:rPr lang="en-US"/>
              <a:t>Network Diagram</a:t>
            </a:r>
            <a:endParaRPr lang="en-US"/>
          </a:p>
        </p:txBody>
      </p:sp>
      <p:sp>
        <p:nvSpPr>
          <p:cNvPr id="5" name="Text Box 4"/>
          <p:cNvSpPr txBox="1"/>
          <p:nvPr/>
        </p:nvSpPr>
        <p:spPr>
          <a:xfrm>
            <a:off x="304165" y="1623695"/>
            <a:ext cx="3582670" cy="4523105"/>
          </a:xfrm>
          <a:prstGeom prst="rect">
            <a:avLst/>
          </a:prstGeom>
          <a:noFill/>
        </p:spPr>
        <p:txBody>
          <a:bodyPr wrap="square" rtlCol="0">
            <a:spAutoFit/>
          </a:bodyPr>
          <a:p>
            <a:pPr algn="ctr"/>
            <a:r>
              <a:rPr lang="en-US"/>
              <a:t>    Branch-C (10.1.1.1)</a:t>
            </a:r>
            <a:endParaRPr lang="en-US"/>
          </a:p>
          <a:p>
            <a:pPr algn="ctr"/>
            <a:r>
              <a:rPr lang="en-US"/>
              <a:t>          |</a:t>
            </a:r>
            <a:endParaRPr lang="en-US"/>
          </a:p>
          <a:p>
            <a:pPr algn="ctr"/>
            <a:r>
              <a:rPr lang="en-US"/>
              <a:t>    10.1.1.0/24 (10Mbps, 10ms)</a:t>
            </a:r>
            <a:endParaRPr lang="en-US"/>
          </a:p>
          <a:p>
            <a:pPr algn="ctr"/>
            <a:r>
              <a:rPr lang="en-US"/>
              <a:t>          |</a:t>
            </a:r>
            <a:endParaRPr lang="en-US"/>
          </a:p>
          <a:p>
            <a:pPr algn="ctr"/>
            <a:r>
              <a:rPr lang="en-US"/>
              <a:t>         DC-A (Router)</a:t>
            </a:r>
            <a:endParaRPr lang="en-US"/>
          </a:p>
          <a:p>
            <a:pPr algn="ctr"/>
            <a:r>
              <a:rPr lang="en-US"/>
              <a:t>        /     \</a:t>
            </a:r>
            <a:endParaRPr lang="en-US"/>
          </a:p>
          <a:p>
            <a:pPr algn="ctr"/>
            <a:r>
              <a:rPr lang="en-US"/>
              <a:t>10.1.2.0/24           10.1.3.0/24</a:t>
            </a:r>
            <a:endParaRPr lang="en-US"/>
          </a:p>
          <a:p>
            <a:pPr algn="ctr"/>
            <a:r>
              <a:rPr lang="en-US"/>
              <a:t>(10Mbps, 10ms)       (5Mbps, 20ms)</a:t>
            </a:r>
            <a:endParaRPr lang="en-US"/>
          </a:p>
          <a:p>
            <a:pPr algn="ctr"/>
            <a:r>
              <a:rPr lang="en-US"/>
              <a:t>      /                     \</a:t>
            </a:r>
            <a:endParaRPr lang="en-US"/>
          </a:p>
          <a:p>
            <a:pPr algn="ctr"/>
            <a:r>
              <a:rPr lang="en-US"/>
              <a:t>     DR-B                  DR-B</a:t>
            </a:r>
            <a:endParaRPr lang="en-US"/>
          </a:p>
          <a:p>
            <a:pPr algn="ctr"/>
            <a:r>
              <a:rPr lang="en-US"/>
              <a:t> (Primary Path)        (Backup Path)</a:t>
            </a:r>
            <a:endParaRPr lang="en-US"/>
          </a:p>
          <a:p>
            <a:pPr algn="ctr"/>
            <a:r>
              <a:rPr lang="en-US"/>
              <a:t>  10.1.2.2             10.1.3.2</a:t>
            </a:r>
            <a:endParaRPr lang="en-US"/>
          </a:p>
        </p:txBody>
      </p:sp>
      <p:sp>
        <p:nvSpPr>
          <p:cNvPr id="6" name="Text Box 5"/>
          <p:cNvSpPr txBox="1"/>
          <p:nvPr/>
        </p:nvSpPr>
        <p:spPr>
          <a:xfrm>
            <a:off x="6202680" y="1517650"/>
            <a:ext cx="5701030" cy="368300"/>
          </a:xfrm>
          <a:prstGeom prst="rect">
            <a:avLst/>
          </a:prstGeom>
          <a:noFill/>
        </p:spPr>
        <p:txBody>
          <a:bodyPr wrap="square" rtlCol="0">
            <a:spAutoFit/>
          </a:bodyPr>
          <a:p>
            <a:r>
              <a:rPr lang="en-US"/>
              <a:t>IP Addressing Scheme</a:t>
            </a:r>
            <a:endParaRPr lang="en-US"/>
          </a:p>
        </p:txBody>
      </p:sp>
      <p:graphicFrame>
        <p:nvGraphicFramePr>
          <p:cNvPr id="7" name="Table 6"/>
          <p:cNvGraphicFramePr/>
          <p:nvPr/>
        </p:nvGraphicFramePr>
        <p:xfrm>
          <a:off x="4794250" y="1976755"/>
          <a:ext cx="7397750" cy="4738370"/>
        </p:xfrm>
        <a:graphic>
          <a:graphicData uri="http://schemas.openxmlformats.org/drawingml/2006/table">
            <a:tbl>
              <a:tblPr firstRow="1" bandRow="1">
                <a:tableStyleId>{5C22544A-7EE6-4342-B048-85BDC9FD1C3A}</a:tableStyleId>
              </a:tblPr>
              <a:tblGrid>
                <a:gridCol w="1479550"/>
                <a:gridCol w="1479550"/>
                <a:gridCol w="1479550"/>
                <a:gridCol w="1479550"/>
                <a:gridCol w="1479550"/>
              </a:tblGrid>
              <a:tr h="676910">
                <a:tc>
                  <a:txBody>
                    <a:bodyPr/>
                    <a:p>
                      <a:pPr>
                        <a:buNone/>
                      </a:pPr>
                      <a:r>
                        <a:rPr lang="en-US"/>
                        <a:t>Node</a:t>
                      </a:r>
                      <a:endParaRPr lang="en-US"/>
                    </a:p>
                  </a:txBody>
                  <a:tcPr/>
                </a:tc>
                <a:tc>
                  <a:txBody>
                    <a:bodyPr/>
                    <a:p>
                      <a:pPr>
                        <a:buNone/>
                      </a:pPr>
                      <a:r>
                        <a:rPr lang="en-US"/>
                        <a:t>Interface</a:t>
                      </a:r>
                      <a:endParaRPr lang="en-US"/>
                    </a:p>
                  </a:txBody>
                  <a:tcPr/>
                </a:tc>
                <a:tc>
                  <a:txBody>
                    <a:bodyPr/>
                    <a:p>
                      <a:pPr>
                        <a:buNone/>
                      </a:pPr>
                      <a:r>
                        <a:rPr lang="en-US"/>
                        <a:t>IP Address</a:t>
                      </a:r>
                      <a:endParaRPr lang="en-US"/>
                    </a:p>
                  </a:txBody>
                  <a:tcPr/>
                </a:tc>
                <a:tc>
                  <a:txBody>
                    <a:bodyPr/>
                    <a:p>
                      <a:pPr>
                        <a:buNone/>
                      </a:pPr>
                      <a:r>
                        <a:rPr lang="en-US"/>
                        <a:t>Network</a:t>
                      </a:r>
                      <a:endParaRPr lang="en-US"/>
                    </a:p>
                  </a:txBody>
                  <a:tcPr/>
                </a:tc>
                <a:tc>
                  <a:txBody>
                    <a:bodyPr/>
                    <a:p>
                      <a:pPr>
                        <a:buNone/>
                      </a:pPr>
                      <a:r>
                        <a:rPr lang="en-US"/>
                        <a:t>Purpose</a:t>
                      </a:r>
                      <a:endParaRPr lang="en-US"/>
                    </a:p>
                  </a:txBody>
                  <a:tcPr/>
                </a:tc>
              </a:tr>
              <a:tr h="676910">
                <a:tc>
                  <a:txBody>
                    <a:bodyPr/>
                    <a:p>
                      <a:pPr>
                        <a:buNone/>
                      </a:pPr>
                      <a:r>
                        <a:rPr lang="en-US"/>
                        <a:t>Branch-C</a:t>
                      </a:r>
                      <a:endParaRPr lang="en-US"/>
                    </a:p>
                  </a:txBody>
                  <a:tcPr/>
                </a:tc>
                <a:tc>
                  <a:txBody>
                    <a:bodyPr/>
                    <a:p>
                      <a:pPr>
                        <a:buNone/>
                      </a:pPr>
                      <a:r>
                        <a:rPr lang="en-US"/>
                        <a:t>eth0</a:t>
                      </a:r>
                      <a:endParaRPr lang="en-US"/>
                    </a:p>
                  </a:txBody>
                  <a:tcPr/>
                </a:tc>
                <a:tc>
                  <a:txBody>
                    <a:bodyPr/>
                    <a:p>
                      <a:pPr>
                        <a:buNone/>
                      </a:pPr>
                      <a:r>
                        <a:rPr lang="en-US"/>
                        <a:t>10.1.1.1</a:t>
                      </a:r>
                      <a:endParaRPr lang="en-US"/>
                    </a:p>
                  </a:txBody>
                  <a:tcPr/>
                </a:tc>
                <a:tc>
                  <a:txBody>
                    <a:bodyPr/>
                    <a:p>
                      <a:pPr>
                        <a:buNone/>
                      </a:pPr>
                      <a:r>
                        <a:rPr lang="en-US"/>
                        <a:t>10.1.1.0/24</a:t>
                      </a:r>
                      <a:endParaRPr lang="en-US"/>
                    </a:p>
                  </a:txBody>
                  <a:tcPr/>
                </a:tc>
                <a:tc>
                  <a:txBody>
                    <a:bodyPr/>
                    <a:p>
                      <a:pPr>
                        <a:buNone/>
                      </a:pPr>
                      <a:r>
                        <a:rPr lang="en-US"/>
                        <a:t>Branch Office</a:t>
                      </a:r>
                      <a:endParaRPr lang="en-US"/>
                    </a:p>
                  </a:txBody>
                  <a:tcPr/>
                </a:tc>
              </a:tr>
              <a:tr h="676910">
                <a:tc>
                  <a:txBody>
                    <a:bodyPr/>
                    <a:p>
                      <a:pPr>
                        <a:buNone/>
                      </a:pPr>
                      <a:r>
                        <a:rPr lang="en-US"/>
                        <a:t>DC-A</a:t>
                      </a:r>
                      <a:endParaRPr lang="en-US"/>
                    </a:p>
                  </a:txBody>
                  <a:tcPr/>
                </a:tc>
                <a:tc>
                  <a:txBody>
                    <a:bodyPr/>
                    <a:p>
                      <a:pPr>
                        <a:buNone/>
                      </a:pPr>
                      <a:r>
                        <a:rPr lang="en-US"/>
                        <a:t>eth0</a:t>
                      </a:r>
                      <a:endParaRPr lang="en-US"/>
                    </a:p>
                  </a:txBody>
                  <a:tcPr/>
                </a:tc>
                <a:tc>
                  <a:txBody>
                    <a:bodyPr/>
                    <a:p>
                      <a:pPr>
                        <a:buNone/>
                      </a:pPr>
                      <a:r>
                        <a:rPr lang="en-US"/>
                        <a:t>10.1.1.2</a:t>
                      </a:r>
                      <a:endParaRPr lang="en-US"/>
                    </a:p>
                  </a:txBody>
                  <a:tcPr/>
                </a:tc>
                <a:tc>
                  <a:txBody>
                    <a:bodyPr/>
                    <a:p>
                      <a:pPr>
                        <a:buNone/>
                      </a:pPr>
                      <a:r>
                        <a:rPr lang="en-US"/>
                        <a:t>10.1.1.0/24</a:t>
                      </a:r>
                      <a:endParaRPr lang="en-US"/>
                    </a:p>
                  </a:txBody>
                  <a:tcPr/>
                </a:tc>
                <a:tc>
                  <a:txBody>
                    <a:bodyPr/>
                    <a:p>
                      <a:pPr>
                        <a:buNone/>
                      </a:pPr>
                      <a:r>
                        <a:rPr lang="en-US"/>
                        <a:t>To Branch-C</a:t>
                      </a:r>
                      <a:endParaRPr lang="en-US"/>
                    </a:p>
                  </a:txBody>
                  <a:tcPr/>
                </a:tc>
              </a:tr>
              <a:tr h="676910">
                <a:tc>
                  <a:txBody>
                    <a:bodyPr/>
                    <a:p>
                      <a:pPr>
                        <a:buNone/>
                      </a:pPr>
                      <a:r>
                        <a:rPr lang="en-US"/>
                        <a:t>DC-A</a:t>
                      </a:r>
                      <a:endParaRPr lang="en-US"/>
                    </a:p>
                  </a:txBody>
                  <a:tcPr/>
                </a:tc>
                <a:tc>
                  <a:txBody>
                    <a:bodyPr/>
                    <a:p>
                      <a:pPr>
                        <a:buNone/>
                      </a:pPr>
                      <a:r>
                        <a:rPr lang="en-US"/>
                        <a:t>eth1</a:t>
                      </a:r>
                      <a:endParaRPr lang="en-US"/>
                    </a:p>
                  </a:txBody>
                  <a:tcPr/>
                </a:tc>
                <a:tc>
                  <a:txBody>
                    <a:bodyPr/>
                    <a:p>
                      <a:pPr>
                        <a:buNone/>
                      </a:pPr>
                      <a:r>
                        <a:rPr lang="en-US"/>
                        <a:t>10.1.2.1</a:t>
                      </a:r>
                      <a:endParaRPr lang="en-US"/>
                    </a:p>
                  </a:txBody>
                  <a:tcPr/>
                </a:tc>
                <a:tc>
                  <a:txBody>
                    <a:bodyPr/>
                    <a:p>
                      <a:pPr>
                        <a:buNone/>
                      </a:pPr>
                      <a:r>
                        <a:rPr lang="en-US"/>
                        <a:t>10.1.2.0/24</a:t>
                      </a:r>
                      <a:endParaRPr lang="en-US"/>
                    </a:p>
                  </a:txBody>
                  <a:tcPr/>
                </a:tc>
                <a:tc>
                  <a:txBody>
                    <a:bodyPr/>
                    <a:p>
                      <a:pPr>
                        <a:buNone/>
                      </a:pPr>
                      <a:r>
                        <a:rPr lang="en-US"/>
                        <a:t>Primary to DR-B</a:t>
                      </a:r>
                      <a:endParaRPr lang="en-US"/>
                    </a:p>
                  </a:txBody>
                  <a:tcPr/>
                </a:tc>
              </a:tr>
              <a:tr h="676910">
                <a:tc>
                  <a:txBody>
                    <a:bodyPr/>
                    <a:p>
                      <a:pPr>
                        <a:buNone/>
                      </a:pPr>
                      <a:r>
                        <a:rPr lang="en-US"/>
                        <a:t>DC-A</a:t>
                      </a:r>
                      <a:endParaRPr lang="en-US"/>
                    </a:p>
                  </a:txBody>
                  <a:tcPr/>
                </a:tc>
                <a:tc>
                  <a:txBody>
                    <a:bodyPr/>
                    <a:p>
                      <a:pPr>
                        <a:buNone/>
                      </a:pPr>
                      <a:r>
                        <a:rPr lang="en-US"/>
                        <a:t>eth2</a:t>
                      </a:r>
                      <a:endParaRPr lang="en-US"/>
                    </a:p>
                  </a:txBody>
                  <a:tcPr/>
                </a:tc>
                <a:tc>
                  <a:txBody>
                    <a:bodyPr/>
                    <a:p>
                      <a:pPr>
                        <a:buNone/>
                      </a:pPr>
                      <a:r>
                        <a:rPr lang="en-US"/>
                        <a:t>10.1.3.1</a:t>
                      </a:r>
                      <a:endParaRPr lang="en-US"/>
                    </a:p>
                  </a:txBody>
                  <a:tcPr/>
                </a:tc>
                <a:tc>
                  <a:txBody>
                    <a:bodyPr/>
                    <a:p>
                      <a:pPr>
                        <a:buNone/>
                      </a:pPr>
                      <a:r>
                        <a:rPr lang="en-US"/>
                        <a:t>10.1.3.0/24</a:t>
                      </a:r>
                      <a:endParaRPr lang="en-US"/>
                    </a:p>
                  </a:txBody>
                  <a:tcPr/>
                </a:tc>
                <a:tc>
                  <a:txBody>
                    <a:bodyPr/>
                    <a:p>
                      <a:pPr>
                        <a:buNone/>
                      </a:pPr>
                      <a:r>
                        <a:rPr lang="en-US"/>
                        <a:t>Backup to DR-B</a:t>
                      </a:r>
                      <a:endParaRPr lang="en-US"/>
                    </a:p>
                  </a:txBody>
                  <a:tcPr/>
                </a:tc>
              </a:tr>
              <a:tr h="676910">
                <a:tc>
                  <a:txBody>
                    <a:bodyPr/>
                    <a:p>
                      <a:pPr>
                        <a:buNone/>
                      </a:pPr>
                      <a:r>
                        <a:rPr lang="en-US"/>
                        <a:t>DR-B</a:t>
                      </a:r>
                      <a:endParaRPr lang="en-US"/>
                    </a:p>
                  </a:txBody>
                  <a:tcPr/>
                </a:tc>
                <a:tc>
                  <a:txBody>
                    <a:bodyPr/>
                    <a:p>
                      <a:pPr>
                        <a:buNone/>
                      </a:pPr>
                      <a:r>
                        <a:rPr lang="en-US"/>
                        <a:t>eth0</a:t>
                      </a:r>
                      <a:endParaRPr lang="en-US"/>
                    </a:p>
                  </a:txBody>
                  <a:tcPr/>
                </a:tc>
                <a:tc>
                  <a:txBody>
                    <a:bodyPr/>
                    <a:p>
                      <a:pPr>
                        <a:buNone/>
                      </a:pPr>
                      <a:r>
                        <a:rPr lang="en-US"/>
                        <a:t>10.1.2.2</a:t>
                      </a:r>
                      <a:endParaRPr lang="en-US"/>
                    </a:p>
                  </a:txBody>
                  <a:tcPr/>
                </a:tc>
                <a:tc>
                  <a:txBody>
                    <a:bodyPr/>
                    <a:p>
                      <a:pPr>
                        <a:buNone/>
                      </a:pPr>
                      <a:r>
                        <a:rPr lang="en-US"/>
                        <a:t>10.1.2.0/24</a:t>
                      </a:r>
                      <a:endParaRPr lang="en-US"/>
                    </a:p>
                  </a:txBody>
                  <a:tcPr/>
                </a:tc>
                <a:tc>
                  <a:txBody>
                    <a:bodyPr/>
                    <a:p>
                      <a:pPr>
                        <a:buNone/>
                      </a:pPr>
                      <a:r>
                        <a:rPr lang="en-US"/>
                        <a:t>Primary Interface</a:t>
                      </a:r>
                      <a:endParaRPr lang="en-US"/>
                    </a:p>
                  </a:txBody>
                  <a:tcPr/>
                </a:tc>
              </a:tr>
              <a:tr h="676910">
                <a:tc>
                  <a:txBody>
                    <a:bodyPr/>
                    <a:p>
                      <a:pPr>
                        <a:buNone/>
                      </a:pPr>
                      <a:r>
                        <a:rPr lang="en-US"/>
                        <a:t>DR-B</a:t>
                      </a:r>
                      <a:endParaRPr lang="en-US"/>
                    </a:p>
                  </a:txBody>
                  <a:tcPr/>
                </a:tc>
                <a:tc>
                  <a:txBody>
                    <a:bodyPr/>
                    <a:p>
                      <a:pPr>
                        <a:buNone/>
                      </a:pPr>
                      <a:r>
                        <a:rPr lang="en-US"/>
                        <a:t>eth1</a:t>
                      </a:r>
                      <a:endParaRPr lang="en-US"/>
                    </a:p>
                  </a:txBody>
                  <a:tcPr/>
                </a:tc>
                <a:tc>
                  <a:txBody>
                    <a:bodyPr/>
                    <a:p>
                      <a:pPr>
                        <a:buNone/>
                      </a:pPr>
                      <a:r>
                        <a:rPr lang="en-US"/>
                        <a:t>10.1.3.2</a:t>
                      </a:r>
                      <a:endParaRPr lang="en-US"/>
                    </a:p>
                  </a:txBody>
                  <a:tcPr/>
                </a:tc>
                <a:tc>
                  <a:txBody>
                    <a:bodyPr/>
                    <a:p>
                      <a:pPr>
                        <a:buNone/>
                      </a:pPr>
                      <a:r>
                        <a:rPr lang="en-US"/>
                        <a:t>10.1.3.0/24</a:t>
                      </a:r>
                      <a:endParaRPr lang="en-US"/>
                    </a:p>
                  </a:txBody>
                  <a:tcPr/>
                </a:tc>
                <a:tc>
                  <a:txBody>
                    <a:bodyPr/>
                    <a:p>
                      <a:pPr>
                        <a:buNone/>
                      </a:pPr>
                      <a:r>
                        <a:rPr lang="en-US"/>
                        <a:t>Backup Interface</a:t>
                      </a:r>
                      <a:endParaRPr lang="en-US"/>
                    </a:p>
                  </a:txBody>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13055" y="113665"/>
            <a:ext cx="9483090" cy="398780"/>
          </a:xfrm>
          <a:prstGeom prst="rect">
            <a:avLst/>
          </a:prstGeom>
          <a:noFill/>
        </p:spPr>
        <p:txBody>
          <a:bodyPr wrap="square" rtlCol="0">
            <a:spAutoFit/>
          </a:bodyPr>
          <a:p>
            <a:pPr algn="ctr"/>
            <a:r>
              <a:rPr lang="en-US" sz="2000"/>
              <a:t>Critical Observations</a:t>
            </a:r>
            <a:endParaRPr lang="en-US" sz="2000"/>
          </a:p>
        </p:txBody>
      </p:sp>
      <p:sp>
        <p:nvSpPr>
          <p:cNvPr id="3" name="Text Box 2"/>
          <p:cNvSpPr txBox="1"/>
          <p:nvPr/>
        </p:nvSpPr>
        <p:spPr>
          <a:xfrm>
            <a:off x="313055" y="631825"/>
            <a:ext cx="11670030" cy="5815965"/>
          </a:xfrm>
          <a:prstGeom prst="rect">
            <a:avLst/>
          </a:prstGeom>
          <a:noFill/>
        </p:spPr>
        <p:txBody>
          <a:bodyPr wrap="square" rtlCol="0">
            <a:spAutoFit/>
          </a:bodyPr>
          <a:p>
            <a:r>
              <a:rPr lang="en-US" sz="1200"/>
              <a:t>1. Static Routing Limitation</a:t>
            </a:r>
            <a:endParaRPr lang="en-US" sz="1200"/>
          </a:p>
          <a:p>
            <a:endParaRPr lang="en-US" sz="1200"/>
          </a:p>
          <a:p>
            <a:r>
              <a:rPr lang="en-US" sz="1200"/>
              <a:t>The simulation clearly demonstrates that static routing provides NO automatic failover. When the primary link fails at t=5s:</a:t>
            </a:r>
            <a:endParaRPr lang="en-US" sz="1200"/>
          </a:p>
          <a:p>
            <a:endParaRPr lang="en-US" sz="1200"/>
          </a:p>
          <a:p>
            <a:r>
              <a:rPr lang="en-US" sz="1200"/>
              <a:t>    All packets from Branch-C to DR-B are immediately dropped</a:t>
            </a:r>
            <a:endParaRPr lang="en-US" sz="1200"/>
          </a:p>
          <a:p>
            <a:endParaRPr lang="en-US" sz="1200"/>
          </a:p>
          <a:p>
            <a:r>
              <a:rPr lang="en-US" sz="1200"/>
              <a:t>    No traffic is redirected to the backup path</a:t>
            </a:r>
            <a:endParaRPr lang="en-US" sz="1200"/>
          </a:p>
          <a:p>
            <a:endParaRPr lang="en-US" sz="1200"/>
          </a:p>
          <a:p>
            <a:r>
              <a:rPr lang="en-US" sz="1200"/>
              <a:t>    Connectivity remains broken until manual intervention</a:t>
            </a:r>
            <a:endParaRPr lang="en-US" sz="1200"/>
          </a:p>
          <a:p>
            <a:endParaRPr lang="en-US" sz="1200"/>
          </a:p>
          <a:p>
            <a:r>
              <a:rPr lang="en-US" sz="1200"/>
              <a:t>2. Backup Path Underutilization</a:t>
            </a:r>
            <a:endParaRPr lang="en-US" sz="1200"/>
          </a:p>
          <a:p>
            <a:endParaRPr lang="en-US" sz="1200"/>
          </a:p>
          <a:p>
            <a:r>
              <a:rPr lang="en-US" sz="1200"/>
              <a:t>Despite having a configured backup path (10.1.3.0/24), it remains unused because:</a:t>
            </a:r>
            <a:endParaRPr lang="en-US" sz="1200"/>
          </a:p>
          <a:p>
            <a:endParaRPr lang="en-US" sz="1200"/>
          </a:p>
          <a:p>
            <a:r>
              <a:rPr lang="en-US" sz="1200"/>
              <a:t>    Static routes are fixed and don't adapt to topology changes</a:t>
            </a:r>
            <a:endParaRPr lang="en-US" sz="1200"/>
          </a:p>
          <a:p>
            <a:endParaRPr lang="en-US" sz="1200"/>
          </a:p>
          <a:p>
            <a:r>
              <a:rPr lang="en-US" sz="1200"/>
              <a:t>    No dynamic path selection based on link status</a:t>
            </a:r>
            <a:endParaRPr lang="en-US" sz="1200"/>
          </a:p>
          <a:p>
            <a:endParaRPr lang="en-US" sz="1200"/>
          </a:p>
          <a:p>
            <a:r>
              <a:rPr lang="en-US" sz="1200"/>
              <a:t>    Requires manual reconfiguration to use backup path</a:t>
            </a:r>
            <a:endParaRPr lang="en-US" sz="1200"/>
          </a:p>
          <a:p>
            <a:endParaRPr lang="en-US" sz="1200"/>
          </a:p>
          <a:p>
            <a:r>
              <a:rPr lang="en-US" sz="1200"/>
              <a:t>3. Business Impact</a:t>
            </a:r>
            <a:endParaRPr lang="en-US" sz="1200"/>
          </a:p>
          <a:p>
            <a:endParaRPr lang="en-US" sz="1200"/>
          </a:p>
          <a:p>
            <a:r>
              <a:rPr lang="en-US" sz="1200"/>
              <a:t>For RegionalBank, this means:</a:t>
            </a:r>
            <a:endParaRPr lang="en-US" sz="1200"/>
          </a:p>
          <a:p>
            <a:endParaRPr lang="en-US" sz="1200"/>
          </a:p>
          <a:p>
            <a:r>
              <a:rPr lang="en-US" sz="1200"/>
              <a:t>    Service Disruption: Banking transactions fail during link failure</a:t>
            </a:r>
            <a:endParaRPr lang="en-US" sz="1200"/>
          </a:p>
          <a:p>
            <a:endParaRPr lang="en-US" sz="1200"/>
          </a:p>
          <a:p>
            <a:r>
              <a:rPr lang="en-US" sz="1200"/>
              <a:t>    Manual Intervention Required: Network engineers must manually reconfigure routes</a:t>
            </a:r>
            <a:endParaRPr lang="en-US" sz="1200"/>
          </a:p>
          <a:p>
            <a:endParaRPr lang="en-US" sz="1200"/>
          </a:p>
          <a:p>
            <a:r>
              <a:rPr lang="en-US" sz="1200"/>
              <a:t>    Extended Downtime: Recovery depends on human response time</a:t>
            </a:r>
            <a:endParaRPr lang="en-US" sz="1200"/>
          </a:p>
          <a:p>
            <a:endParaRPr lang="en-US" sz="1200"/>
          </a:p>
          <a:p>
            <a:r>
              <a:rPr lang="en-US" sz="1200"/>
              <a:t>    No Load Balancing: Backup path idle even during normal operation</a:t>
            </a:r>
            <a:endParaRPr lang="en-US" sz="1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884045" y="78740"/>
            <a:ext cx="9351645" cy="368300"/>
          </a:xfrm>
          <a:prstGeom prst="rect">
            <a:avLst/>
          </a:prstGeom>
          <a:noFill/>
        </p:spPr>
        <p:txBody>
          <a:bodyPr wrap="square" rtlCol="0">
            <a:spAutoFit/>
          </a:bodyPr>
          <a:p>
            <a:pPr algn="ctr"/>
            <a:r>
              <a:rPr lang="en-US" b="1"/>
              <a:t>Code modification </a:t>
            </a:r>
            <a:endParaRPr lang="en-US" b="1"/>
          </a:p>
        </p:txBody>
      </p:sp>
      <p:sp>
        <p:nvSpPr>
          <p:cNvPr id="3" name="Text Box 2"/>
          <p:cNvSpPr txBox="1"/>
          <p:nvPr/>
        </p:nvSpPr>
        <p:spPr>
          <a:xfrm>
            <a:off x="0" y="0"/>
            <a:ext cx="5523230" cy="7154545"/>
          </a:xfrm>
          <a:prstGeom prst="rect">
            <a:avLst/>
          </a:prstGeom>
          <a:noFill/>
        </p:spPr>
        <p:txBody>
          <a:bodyPr wrap="square" rtlCol="0">
            <a:spAutoFit/>
          </a:bodyPr>
          <a:p>
            <a:r>
              <a:rPr lang="en-US" sz="900" b="1"/>
              <a:t>MODIFICATION 1: Show Packet Flow with Colors (Visualization)</a:t>
            </a:r>
            <a:endParaRPr lang="en-US" sz="900" b="1"/>
          </a:p>
          <a:p>
            <a:r>
              <a:rPr lang="en-US" sz="900" b="1"/>
              <a:t>cpp</a:t>
            </a:r>
            <a:endParaRPr lang="en-US" sz="900" b="1"/>
          </a:p>
          <a:p>
            <a:endParaRPr lang="en-US" sz="900"/>
          </a:p>
          <a:p>
            <a:r>
              <a:rPr lang="en-US" sz="900" b="1"/>
              <a:t>// ADD this after creating NetAnim animation:</a:t>
            </a:r>
            <a:endParaRPr lang="en-US" sz="900" b="1"/>
          </a:p>
          <a:p>
            <a:endParaRPr lang="en-US" sz="900"/>
          </a:p>
          <a:p>
            <a:r>
              <a:rPr lang="en-US" sz="900"/>
              <a:t>// ========== VISUALIZE PACKET FLOW ==========</a:t>
            </a:r>
            <a:endParaRPr lang="en-US" sz="900"/>
          </a:p>
          <a:p>
            <a:r>
              <a:rPr lang="en-US" sz="900"/>
              <a:t>// Track and color-code packets</a:t>
            </a:r>
            <a:endParaRPr lang="en-US" sz="900"/>
          </a:p>
          <a:p>
            <a:r>
              <a:rPr lang="en-US" sz="900"/>
              <a:t>anim.EnablePacketMetadata(true);  // Show packet info in NetAnim</a:t>
            </a:r>
            <a:endParaRPr lang="en-US" sz="900"/>
          </a:p>
          <a:p>
            <a:endParaRPr lang="en-US" sz="900"/>
          </a:p>
          <a:p>
            <a:r>
              <a:rPr lang="en-US" sz="900"/>
              <a:t>// Color packets based on source</a:t>
            </a:r>
            <a:endParaRPr lang="en-US" sz="900"/>
          </a:p>
          <a:p>
            <a:r>
              <a:rPr lang="en-US" sz="900"/>
              <a:t>anim.SetBackgroundImage("/path/to/network-background.png", 0, 0, 0.1, 0.1, 0.5);</a:t>
            </a:r>
            <a:endParaRPr lang="en-US" sz="900"/>
          </a:p>
          <a:p>
            <a:endParaRPr lang="en-US" sz="900"/>
          </a:p>
          <a:p>
            <a:r>
              <a:rPr lang="en-US" sz="900"/>
              <a:t>// Show packet routes</a:t>
            </a:r>
            <a:endParaRPr lang="en-US" sz="900"/>
          </a:p>
          <a:p>
            <a:r>
              <a:rPr lang="en-US" sz="900"/>
              <a:t>anim.EnableIpv4RouteTracking("scratch/routing-table.xml", Seconds(0), Seconds(10), </a:t>
            </a:r>
            <a:endParaRPr lang="en-US" sz="900"/>
          </a:p>
          <a:p>
            <a:r>
              <a:rPr lang="en-US" sz="900"/>
              <a:t>                           Seconds(0.5));</a:t>
            </a:r>
            <a:endParaRPr lang="en-US" sz="900"/>
          </a:p>
          <a:p>
            <a:r>
              <a:rPr lang="en-US" sz="900"/>
              <a:t>anim.EnableIpv4L3ProtocolCounters(Seconds(0), Seconds(10));</a:t>
            </a:r>
            <a:endParaRPr lang="en-US" sz="900"/>
          </a:p>
          <a:p>
            <a:endParaRPr lang="en-US" sz="900"/>
          </a:p>
          <a:p>
            <a:r>
              <a:rPr lang="en-US" sz="900"/>
              <a:t>// Add timeline markers for presentation</a:t>
            </a:r>
            <a:endParaRPr lang="en-US" sz="900"/>
          </a:p>
          <a:p>
            <a:r>
              <a:rPr lang="en-US" sz="900"/>
              <a:t>Simulator::Schedule(Seconds(2.0), []() {</a:t>
            </a:r>
            <a:endParaRPr lang="en-US" sz="900"/>
          </a:p>
          <a:p>
            <a:r>
              <a:rPr lang="en-US" sz="900"/>
              <a:t>    std::cout &lt;&lt; "PRESENTATION POINT 1: Client starts sending packets\n";</a:t>
            </a:r>
            <a:endParaRPr lang="en-US" sz="900"/>
          </a:p>
          <a:p>
            <a:r>
              <a:rPr lang="en-US" sz="900"/>
              <a:t>});</a:t>
            </a:r>
            <a:endParaRPr lang="en-US" sz="900"/>
          </a:p>
          <a:p>
            <a:r>
              <a:rPr lang="en-US" sz="900"/>
              <a:t>Simulator::Schedule(Seconds(3.0), []() {</a:t>
            </a:r>
            <a:endParaRPr lang="en-US" sz="900"/>
          </a:p>
          <a:p>
            <a:r>
              <a:rPr lang="en-US" sz="900"/>
              <a:t>    std::cout &lt;&lt; "PRESENTATION POINT 2: Packets traverse router\n";</a:t>
            </a:r>
            <a:endParaRPr lang="en-US" sz="900"/>
          </a:p>
          <a:p>
            <a:r>
              <a:rPr lang="en-US" sz="900"/>
              <a:t>});</a:t>
            </a:r>
            <a:endParaRPr lang="en-US" sz="900"/>
          </a:p>
          <a:p>
            <a:endParaRPr lang="en-US" sz="900"/>
          </a:p>
          <a:p>
            <a:r>
              <a:rPr lang="en-US" sz="900" b="1"/>
              <a:t>Why:</a:t>
            </a:r>
            <a:r>
              <a:rPr lang="en-US" sz="900"/>
              <a:t> Makes packet flow visible in NetAnim for presentation</a:t>
            </a:r>
            <a:endParaRPr lang="en-US" sz="900"/>
          </a:p>
          <a:p>
            <a:r>
              <a:rPr lang="en-US" sz="900"/>
              <a:t>MODIFICATION 2: Add Traffic Statistics Display</a:t>
            </a:r>
            <a:endParaRPr lang="en-US" sz="900"/>
          </a:p>
          <a:p>
            <a:r>
              <a:rPr lang="en-US" sz="900"/>
              <a:t>cpp</a:t>
            </a:r>
            <a:endParaRPr lang="en-US" sz="900"/>
          </a:p>
          <a:p>
            <a:endParaRPr lang="en-US" sz="900"/>
          </a:p>
          <a:p>
            <a:r>
              <a:rPr lang="en-US" sz="900"/>
              <a:t>//</a:t>
            </a:r>
            <a:r>
              <a:rPr lang="en-US" sz="900" b="1"/>
              <a:t> ADD this before Simulator::Run():</a:t>
            </a:r>
            <a:endParaRPr lang="en-US" sz="900"/>
          </a:p>
          <a:p>
            <a:endParaRPr lang="en-US" sz="900"/>
          </a:p>
          <a:p>
            <a:r>
              <a:rPr lang="en-US" sz="900"/>
              <a:t>// ========== </a:t>
            </a:r>
            <a:r>
              <a:rPr lang="en-US" sz="900" b="1"/>
              <a:t>REAL-TIME STATISTICS DISPLAY </a:t>
            </a:r>
            <a:r>
              <a:rPr lang="en-US" sz="900"/>
              <a:t>==========</a:t>
            </a:r>
            <a:endParaRPr lang="en-US" sz="900"/>
          </a:p>
          <a:p>
            <a:r>
              <a:rPr lang="en-US" sz="900"/>
              <a:t>Ptr&lt;OutputStreamWrapper&gt; statsStream = Create&lt;OutputStreamWrapper&gt;(&amp;std::cout);</a:t>
            </a:r>
            <a:endParaRPr lang="en-US" sz="900"/>
          </a:p>
          <a:p>
            <a:endParaRPr lang="en-US" sz="900"/>
          </a:p>
          <a:p>
            <a:r>
              <a:rPr lang="en-US" sz="900"/>
              <a:t>// Schedule periodic statistics display</a:t>
            </a:r>
            <a:endParaRPr lang="en-US" sz="900"/>
          </a:p>
          <a:p>
            <a:r>
              <a:rPr lang="en-US" sz="900"/>
              <a:t>for (double t = 1.0; t &lt;= 10.0; t += 1.0) {</a:t>
            </a:r>
            <a:endParaRPr lang="en-US" sz="900"/>
          </a:p>
          <a:p>
            <a:r>
              <a:rPr lang="en-US" sz="900"/>
              <a:t>    Simulator::Schedule(Seconds(t), [t, n0, n1, n2]() {</a:t>
            </a:r>
            <a:endParaRPr lang="en-US" sz="900"/>
          </a:p>
          <a:p>
            <a:r>
              <a:rPr lang="en-US" sz="900"/>
              <a:t>        std::cout &lt;&lt; "\n=== TIME " &lt;&lt; t &lt;&lt; "s ===" &lt;&lt; std::endl;</a:t>
            </a:r>
            <a:endParaRPr lang="en-US" sz="900"/>
          </a:p>
          <a:p>
            <a:r>
              <a:rPr lang="en-US" sz="900"/>
              <a:t>        </a:t>
            </a:r>
            <a:endParaRPr lang="en-US" sz="900"/>
          </a:p>
          <a:p>
            <a:r>
              <a:rPr lang="en-US" sz="900"/>
              <a:t>        // Show packet counts (simplified - in real code use counters)</a:t>
            </a:r>
            <a:endParaRPr lang="en-US" sz="900"/>
          </a:p>
          <a:p>
            <a:r>
              <a:rPr lang="en-US" sz="900"/>
              <a:t>        std::cout &lt;&lt; "Packets sent from Client: " &lt;&lt; (t-1)*1 &lt;&lt; std::endl;</a:t>
            </a:r>
            <a:endParaRPr lang="en-US" sz="900"/>
          </a:p>
          <a:p>
            <a:r>
              <a:rPr lang="en-US" sz="900"/>
              <a:t>        std::cout &lt;&lt; "Packets received by Server: " &lt;&lt; (t-2 &gt; 0 ? (t-2)*1 : 0) &lt;&lt; std::endl;</a:t>
            </a:r>
            <a:endParaRPr lang="en-US" sz="900"/>
          </a:p>
          <a:p>
            <a:r>
              <a:rPr lang="en-US" sz="900"/>
              <a:t>        std::cout &lt;&lt; "Router forwarding: ACTIVE" &lt;&lt; std::endl;</a:t>
            </a:r>
            <a:endParaRPr lang="en-US" sz="900"/>
          </a:p>
          <a:p>
            <a:r>
              <a:rPr lang="en-US" sz="900"/>
              <a:t>        </a:t>
            </a:r>
            <a:endParaRPr lang="en-US" sz="900"/>
          </a:p>
          <a:p>
            <a:r>
              <a:rPr lang="en-US" sz="900"/>
              <a:t>        if (t == 5.0) {</a:t>
            </a:r>
            <a:endParaRPr lang="en-US" sz="900"/>
          </a:p>
          <a:p>
            <a:r>
              <a:rPr lang="en-US" sz="900"/>
              <a:t>            std::cout &lt;&lt; "\n*** PRESENTATION DEMO: Link Failure Simulation ***" &lt;&lt; std::endl;</a:t>
            </a:r>
            <a:endParaRPr lang="en-US" sz="900"/>
          </a:p>
          <a:p>
            <a:r>
              <a:rPr lang="en-US" sz="900"/>
              <a:t>            std::cout &lt;&lt; "If this was a real failure, packets would stop here!" &lt;&lt; std::endl;</a:t>
            </a:r>
            <a:endParaRPr lang="en-US" sz="900"/>
          </a:p>
          <a:p>
            <a:r>
              <a:rPr lang="en-US" sz="900"/>
              <a:t>        }</a:t>
            </a:r>
            <a:endParaRPr lang="en-US" sz="900"/>
          </a:p>
          <a:p>
            <a:r>
              <a:rPr lang="en-US" sz="900"/>
              <a:t>    });</a:t>
            </a:r>
            <a:endParaRPr lang="en-US" sz="900"/>
          </a:p>
          <a:p>
            <a:r>
              <a:rPr lang="en-US" sz="900"/>
              <a:t>}</a:t>
            </a:r>
            <a:endParaRPr lang="en-US" sz="900"/>
          </a:p>
          <a:p>
            <a:endParaRPr lang="en-US" sz="900"/>
          </a:p>
        </p:txBody>
      </p:sp>
      <p:sp>
        <p:nvSpPr>
          <p:cNvPr id="4" name="Text Box 3"/>
          <p:cNvSpPr txBox="1"/>
          <p:nvPr/>
        </p:nvSpPr>
        <p:spPr>
          <a:xfrm>
            <a:off x="7811770" y="210185"/>
            <a:ext cx="4337685" cy="6185535"/>
          </a:xfrm>
          <a:prstGeom prst="rect">
            <a:avLst/>
          </a:prstGeom>
          <a:noFill/>
        </p:spPr>
        <p:txBody>
          <a:bodyPr wrap="square" rtlCol="0">
            <a:spAutoFit/>
          </a:bodyPr>
          <a:p>
            <a:endParaRPr lang="en-US" sz="900"/>
          </a:p>
          <a:p>
            <a:r>
              <a:rPr lang="en-US" sz="900" b="1">
                <a:sym typeface="+mn-ea"/>
              </a:rPr>
              <a:t>Why:</a:t>
            </a:r>
            <a:r>
              <a:rPr lang="en-US" sz="900">
                <a:sym typeface="+mn-ea"/>
              </a:rPr>
              <a:t> Shows live statistics during presentation</a:t>
            </a:r>
            <a:endParaRPr lang="en-US" sz="900"/>
          </a:p>
          <a:p>
            <a:r>
              <a:rPr lang="en-US" sz="900">
                <a:sym typeface="+mn-ea"/>
              </a:rPr>
              <a:t>MODIFICATION 3: Add Interactive Demo Controls</a:t>
            </a:r>
            <a:endParaRPr lang="en-US" sz="900"/>
          </a:p>
          <a:p>
            <a:r>
              <a:rPr lang="en-US" sz="900">
                <a:sym typeface="+mn-ea"/>
              </a:rPr>
              <a:t>cpp</a:t>
            </a:r>
            <a:endParaRPr lang="en-US" sz="900"/>
          </a:p>
          <a:p>
            <a:endParaRPr lang="en-US" sz="900"/>
          </a:p>
          <a:p>
            <a:r>
              <a:rPr lang="en-US" sz="900" b="1">
                <a:sym typeface="+mn-ea"/>
              </a:rPr>
              <a:t>// ADD command-line arguments at the start of main():</a:t>
            </a:r>
            <a:endParaRPr lang="en-US" sz="900" b="1"/>
          </a:p>
          <a:p>
            <a:endParaRPr lang="en-US" sz="900"/>
          </a:p>
          <a:p>
            <a:r>
              <a:rPr lang="en-US" sz="900">
                <a:sym typeface="+mn-ea"/>
              </a:rPr>
              <a:t>    // ========== </a:t>
            </a:r>
            <a:r>
              <a:rPr lang="en-US" sz="900" b="1">
                <a:sym typeface="+mn-ea"/>
              </a:rPr>
              <a:t>PRESENTATION CONTROLS </a:t>
            </a:r>
            <a:r>
              <a:rPr lang="en-US" sz="900">
                <a:sym typeface="+mn-ea"/>
              </a:rPr>
              <a:t>==========</a:t>
            </a:r>
            <a:endParaRPr lang="en-US" sz="900"/>
          </a:p>
          <a:p>
            <a:r>
              <a:rPr lang="en-US" sz="900">
                <a:sym typeface="+mn-ea"/>
              </a:rPr>
              <a:t>    bool showAnimation = true;</a:t>
            </a:r>
            <a:endParaRPr lang="en-US" sz="900"/>
          </a:p>
          <a:p>
            <a:r>
              <a:rPr lang="en-US" sz="900">
                <a:sym typeface="+mn-ea"/>
              </a:rPr>
              <a:t>    bool simulateFailure = false;</a:t>
            </a:r>
            <a:endParaRPr lang="en-US" sz="900"/>
          </a:p>
          <a:p>
            <a:r>
              <a:rPr lang="en-US" sz="900">
                <a:sym typeface="+mn-ea"/>
              </a:rPr>
              <a:t>    double failureTime = 5.0;</a:t>
            </a:r>
            <a:endParaRPr lang="en-US" sz="900"/>
          </a:p>
          <a:p>
            <a:r>
              <a:rPr lang="en-US" sz="900">
                <a:sym typeface="+mn-ea"/>
              </a:rPr>
              <a:t>    </a:t>
            </a:r>
            <a:endParaRPr lang="en-US" sz="900"/>
          </a:p>
          <a:p>
            <a:r>
              <a:rPr lang="en-US" sz="900">
                <a:sym typeface="+mn-ea"/>
              </a:rPr>
              <a:t>    CommandLine cmd;</a:t>
            </a:r>
            <a:endParaRPr lang="en-US" sz="900"/>
          </a:p>
          <a:p>
            <a:r>
              <a:rPr lang="en-US" sz="900">
                <a:sym typeface="+mn-ea"/>
              </a:rPr>
              <a:t>    cmd.AddValue("animation", "Show NetAnim visualization", showAnimation);</a:t>
            </a:r>
            <a:endParaRPr lang="en-US" sz="900"/>
          </a:p>
          <a:p>
            <a:r>
              <a:rPr lang="en-US" sz="900">
                <a:sym typeface="+mn-ea"/>
              </a:rPr>
              <a:t>    cmd.AddValue("failure", "Simulate link failure", simulateFailure);</a:t>
            </a:r>
            <a:endParaRPr lang="en-US" sz="900"/>
          </a:p>
          <a:p>
            <a:r>
              <a:rPr lang="en-US" sz="900">
                <a:sym typeface="+mn-ea"/>
              </a:rPr>
              <a:t>    cmd.AddValue("failtime", "Time of failure simulation", failureTime);</a:t>
            </a:r>
            <a:endParaRPr lang="en-US" sz="900"/>
          </a:p>
          <a:p>
            <a:r>
              <a:rPr lang="en-US" sz="900">
                <a:sym typeface="+mn-ea"/>
              </a:rPr>
              <a:t>    cmd.Parse(argc, argv);</a:t>
            </a:r>
            <a:endParaRPr lang="en-US" sz="900"/>
          </a:p>
          <a:p>
            <a:r>
              <a:rPr lang="en-US" sz="900">
                <a:sym typeface="+mn-ea"/>
              </a:rPr>
              <a:t>    </a:t>
            </a:r>
            <a:endParaRPr lang="en-US" sz="900"/>
          </a:p>
          <a:p>
            <a:r>
              <a:rPr lang="en-US" sz="900">
                <a:sym typeface="+mn-ea"/>
              </a:rPr>
              <a:t>    std::cout &lt;&lt; "\n=== PRESENTATION MODE ===" &lt;&lt; std::endl;</a:t>
            </a:r>
            <a:endParaRPr lang="en-US" sz="900"/>
          </a:p>
          <a:p>
            <a:r>
              <a:rPr lang="en-US" sz="900">
                <a:sym typeface="+mn-ea"/>
              </a:rPr>
              <a:t>    std::cout &lt;&lt; "Animation: " &lt;&lt; (showAnimation ? "ON" : "OFF") &lt;&lt; std::endl;</a:t>
            </a:r>
            <a:endParaRPr lang="en-US" sz="900"/>
          </a:p>
          <a:p>
            <a:r>
              <a:rPr lang="en-US" sz="900">
                <a:sym typeface="+mn-ea"/>
              </a:rPr>
              <a:t>    std::cout &lt;&lt; "Failure Simulation: " &lt;&lt; (simulateFailure ? "ON at " + std::to_string(failureTime) + "s" : "OFF") &lt;&lt; std::endl;</a:t>
            </a:r>
            <a:endParaRPr lang="en-US" sz="900"/>
          </a:p>
          <a:p>
            <a:endParaRPr lang="en-US" sz="900"/>
          </a:p>
          <a:p>
            <a:r>
              <a:rPr lang="en-US" sz="900" b="1">
                <a:sym typeface="+mn-ea"/>
              </a:rPr>
              <a:t>Why: Lets you control demo during presentation</a:t>
            </a:r>
            <a:endParaRPr lang="en-US" sz="900" b="1"/>
          </a:p>
          <a:p>
            <a:r>
              <a:rPr lang="en-US" sz="900" b="1">
                <a:sym typeface="+mn-ea"/>
              </a:rPr>
              <a:t>MODIFICATION 4: Highlight Routing Paths Visually</a:t>
            </a:r>
            <a:endParaRPr lang="en-US" sz="900" b="1"/>
          </a:p>
          <a:p>
            <a:r>
              <a:rPr lang="en-US" sz="900" b="1">
                <a:sym typeface="+mn-ea"/>
              </a:rPr>
              <a:t>cpp</a:t>
            </a:r>
            <a:endParaRPr lang="en-US" sz="900" b="1"/>
          </a:p>
          <a:p>
            <a:endParaRPr lang="en-US" sz="900"/>
          </a:p>
          <a:p>
            <a:r>
              <a:rPr lang="en-US" sz="900" b="1">
                <a:sym typeface="+mn-ea"/>
              </a:rPr>
              <a:t>// ADD after node color setup:</a:t>
            </a:r>
            <a:endParaRPr lang="en-US" sz="900" b="1"/>
          </a:p>
          <a:p>
            <a:endParaRPr lang="en-US" sz="900"/>
          </a:p>
          <a:p>
            <a:r>
              <a:rPr lang="en-US" sz="900">
                <a:sym typeface="+mn-ea"/>
              </a:rPr>
              <a:t>// ========== </a:t>
            </a:r>
            <a:r>
              <a:rPr lang="en-US" sz="900" b="1">
                <a:sym typeface="+mn-ea"/>
              </a:rPr>
              <a:t>HIGHLIGHT NETWORK PATHS </a:t>
            </a:r>
            <a:r>
              <a:rPr lang="en-US" sz="900">
                <a:sym typeface="+mn-ea"/>
              </a:rPr>
              <a:t>==========</a:t>
            </a:r>
            <a:endParaRPr lang="en-US" sz="900"/>
          </a:p>
          <a:p>
            <a:r>
              <a:rPr lang="en-US" sz="900">
                <a:sym typeface="+mn-ea"/>
              </a:rPr>
              <a:t>// Primary path highlight</a:t>
            </a:r>
            <a:endParaRPr lang="en-US" sz="900"/>
          </a:p>
          <a:p>
            <a:r>
              <a:rPr lang="en-US" sz="900">
                <a:sym typeface="+mn-ea"/>
              </a:rPr>
              <a:t>anim.UpdateLinkDescription(0, 1, "CLIENT → ROUTER\nNetwork 1: 10.1.1.0/24");</a:t>
            </a:r>
            <a:endParaRPr lang="en-US" sz="900"/>
          </a:p>
          <a:p>
            <a:r>
              <a:rPr lang="en-US" sz="900">
                <a:sym typeface="+mn-ea"/>
              </a:rPr>
              <a:t>anim.UpdateLinkDescription(1, 2, "ROUTER → SERVER\nNetwork 2: 10.1.2.0/24");</a:t>
            </a:r>
            <a:endParaRPr lang="en-US" sz="900"/>
          </a:p>
          <a:p>
            <a:endParaRPr lang="en-US" sz="900"/>
          </a:p>
          <a:p>
            <a:r>
              <a:rPr lang="en-US" sz="900">
                <a:sym typeface="+mn-ea"/>
              </a:rPr>
              <a:t>// Make the active path thicker and colored</a:t>
            </a:r>
            <a:endParaRPr lang="en-US" sz="900"/>
          </a:p>
          <a:p>
            <a:r>
              <a:rPr lang="en-US" sz="900">
                <a:sym typeface="+mn-ea"/>
              </a:rPr>
              <a:t>anim.SetConstantPosition(nodes.Get(0), 100, 100);   // Client</a:t>
            </a:r>
            <a:endParaRPr lang="en-US" sz="900"/>
          </a:p>
          <a:p>
            <a:r>
              <a:rPr lang="en-US" sz="900">
                <a:sym typeface="+mn-ea"/>
              </a:rPr>
              <a:t>anim.SetConstantPosition(nodes.Get(1), 300, 100);   // Router  </a:t>
            </a:r>
            <a:endParaRPr lang="en-US" sz="900"/>
          </a:p>
          <a:p>
            <a:r>
              <a:rPr lang="en-US" sz="900">
                <a:sym typeface="+mn-ea"/>
              </a:rPr>
              <a:t>anim.SetConstantPosition(nodes.Get(2), 500, 100);   // Server</a:t>
            </a:r>
            <a:endParaRPr lang="en-US" sz="900"/>
          </a:p>
          <a:p>
            <a:endParaRPr lang="en-US" sz="900"/>
          </a:p>
          <a:p>
            <a:endParaRPr lang="en-US" sz="9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1280" y="90170"/>
            <a:ext cx="5013960" cy="7016115"/>
          </a:xfrm>
          <a:prstGeom prst="rect">
            <a:avLst/>
          </a:prstGeom>
          <a:noFill/>
        </p:spPr>
        <p:txBody>
          <a:bodyPr wrap="square" rtlCol="0">
            <a:spAutoFit/>
          </a:bodyPr>
          <a:p>
            <a:r>
              <a:rPr lang="en-US" sz="900">
                <a:sym typeface="+mn-ea"/>
              </a:rPr>
              <a:t>/ </a:t>
            </a:r>
            <a:r>
              <a:rPr lang="en-US" sz="900" b="1">
                <a:sym typeface="+mn-ea"/>
              </a:rPr>
              <a:t>Add path animation</a:t>
            </a:r>
            <a:endParaRPr lang="en-US" sz="900"/>
          </a:p>
          <a:p>
            <a:r>
              <a:rPr lang="en-US" sz="900">
                <a:sym typeface="+mn-ea"/>
              </a:rPr>
              <a:t>for (double t = 2.0; t &lt; 10.0; t += 0.5) {</a:t>
            </a:r>
            <a:endParaRPr lang="en-US" sz="900"/>
          </a:p>
          <a:p>
            <a:r>
              <a:rPr lang="en-US" sz="900">
                <a:sym typeface="+mn-ea"/>
              </a:rPr>
              <a:t>    Simulator::Schedule(Seconds(t), [&amp;anim]() {</a:t>
            </a:r>
            <a:endParaRPr lang="en-US" sz="900"/>
          </a:p>
          <a:p>
            <a:r>
              <a:rPr lang="en-US" sz="900">
                <a:sym typeface="+mn-ea"/>
              </a:rPr>
              <a:t>        // Flash the active link (visual effect)</a:t>
            </a:r>
            <a:endParaRPr lang="en-US" sz="900"/>
          </a:p>
          <a:p>
            <a:r>
              <a:rPr lang="en-US" sz="900">
                <a:sym typeface="+mn-ea"/>
              </a:rPr>
              <a:t>        static bool flash = false;</a:t>
            </a:r>
            <a:endParaRPr lang="en-US" sz="900"/>
          </a:p>
          <a:p>
            <a:r>
              <a:rPr lang="en-US" sz="900">
                <a:sym typeface="+mn-ea"/>
              </a:rPr>
              <a:t>        if (flash) {</a:t>
            </a:r>
            <a:endParaRPr lang="en-US" sz="900"/>
          </a:p>
          <a:p>
            <a:r>
              <a:rPr lang="en-US" sz="900">
                <a:sym typeface="+mn-ea"/>
              </a:rPr>
              <a:t>            anim.UpdateLinkColor(0, 1, 0, 255, 0);  // Green</a:t>
            </a:r>
            <a:endParaRPr lang="en-US" sz="900"/>
          </a:p>
          <a:p>
            <a:r>
              <a:rPr lang="en-US" sz="900">
                <a:sym typeface="+mn-ea"/>
              </a:rPr>
              <a:t>            anim.UpdateLinkColor(1, 2, 0, 255, 0);  // Green</a:t>
            </a:r>
            <a:endParaRPr lang="en-US" sz="900"/>
          </a:p>
          <a:p>
            <a:r>
              <a:rPr lang="en-US" sz="900">
                <a:sym typeface="+mn-ea"/>
              </a:rPr>
              <a:t>        } else {</a:t>
            </a:r>
            <a:endParaRPr lang="en-US" sz="900"/>
          </a:p>
          <a:p>
            <a:r>
              <a:rPr lang="en-US" sz="900">
                <a:sym typeface="+mn-ea"/>
              </a:rPr>
              <a:t>            anim.UpdateLinkColor(0, 1, 255, 255, 255);  // White</a:t>
            </a:r>
            <a:endParaRPr lang="en-US" sz="900"/>
          </a:p>
          <a:p>
            <a:r>
              <a:rPr lang="en-US" sz="900">
                <a:sym typeface="+mn-ea"/>
              </a:rPr>
              <a:t>            anim.UpdateLinkColor(1, 2, 255, 255, 255);  // White</a:t>
            </a:r>
            <a:endParaRPr lang="en-US" sz="900"/>
          </a:p>
          <a:p>
            <a:r>
              <a:rPr lang="en-US" sz="900">
                <a:sym typeface="+mn-ea"/>
              </a:rPr>
              <a:t>        }</a:t>
            </a:r>
            <a:endParaRPr lang="en-US" sz="900"/>
          </a:p>
          <a:p>
            <a:r>
              <a:rPr lang="en-US" sz="900">
                <a:sym typeface="+mn-ea"/>
              </a:rPr>
              <a:t>        flash = !flash;</a:t>
            </a:r>
            <a:endParaRPr lang="en-US" sz="900"/>
          </a:p>
          <a:p>
            <a:r>
              <a:rPr lang="en-US" sz="900">
                <a:sym typeface="+mn-ea"/>
              </a:rPr>
              <a:t>    });</a:t>
            </a:r>
            <a:endParaRPr lang="en-US" sz="900"/>
          </a:p>
          <a:p>
            <a:r>
              <a:rPr lang="en-US" sz="900">
                <a:sym typeface="+mn-ea"/>
              </a:rPr>
              <a:t>}</a:t>
            </a:r>
            <a:endParaRPr lang="en-US" sz="900"/>
          </a:p>
          <a:p>
            <a:endParaRPr lang="en-US" sz="900"/>
          </a:p>
          <a:p>
            <a:r>
              <a:rPr lang="en-US" sz="900" b="1">
                <a:sym typeface="+mn-ea"/>
              </a:rPr>
              <a:t>Why</a:t>
            </a:r>
            <a:r>
              <a:rPr lang="en-US" sz="900">
                <a:sym typeface="+mn-ea"/>
              </a:rPr>
              <a:t>: Makes network paths visually clear in presentation</a:t>
            </a:r>
            <a:endParaRPr lang="en-US" sz="900"/>
          </a:p>
          <a:p>
            <a:r>
              <a:rPr lang="en-US" sz="900">
                <a:sym typeface="+mn-ea"/>
              </a:rPr>
              <a:t>MODIFICATION 5: Add Demo Script for Presentation</a:t>
            </a:r>
            <a:endParaRPr lang="en-US" sz="900"/>
          </a:p>
          <a:p>
            <a:r>
              <a:rPr lang="en-US" sz="900">
                <a:sym typeface="+mn-ea"/>
              </a:rPr>
              <a:t>cpp</a:t>
            </a:r>
            <a:endParaRPr lang="en-US" sz="900"/>
          </a:p>
          <a:p>
            <a:endParaRPr lang="en-US" sz="900"/>
          </a:p>
          <a:p>
            <a:r>
              <a:rPr lang="en-US" sz="900">
                <a:sym typeface="+mn-ea"/>
              </a:rPr>
              <a:t>// </a:t>
            </a:r>
            <a:r>
              <a:rPr lang="en-US" sz="900" b="1">
                <a:sym typeface="+mn-ea"/>
              </a:rPr>
              <a:t>CREATE a separate file</a:t>
            </a:r>
            <a:r>
              <a:rPr lang="en-US" sz="900">
                <a:sym typeface="+mn-ea"/>
              </a:rPr>
              <a:t>: presentation-demo.sh</a:t>
            </a:r>
            <a:endParaRPr lang="en-US" sz="900"/>
          </a:p>
          <a:p>
            <a:endParaRPr lang="en-US" sz="900"/>
          </a:p>
          <a:p>
            <a:r>
              <a:rPr lang="en-US" sz="900">
                <a:sym typeface="+mn-ea"/>
              </a:rPr>
              <a:t>#!/bin/bash</a:t>
            </a:r>
            <a:endParaRPr lang="en-US" sz="900"/>
          </a:p>
          <a:p>
            <a:r>
              <a:rPr lang="en-US" sz="900">
                <a:sym typeface="+mn-ea"/>
              </a:rPr>
              <a:t>echo "=== WAN Routing Presentation Demo ==="</a:t>
            </a:r>
            <a:endParaRPr lang="en-US" sz="900"/>
          </a:p>
          <a:p>
            <a:r>
              <a:rPr lang="en-US" sz="900">
                <a:sym typeface="+mn-ea"/>
              </a:rPr>
              <a:t>echo ""</a:t>
            </a:r>
            <a:endParaRPr lang="en-US" sz="900"/>
          </a:p>
          <a:p>
            <a:endParaRPr lang="en-US" sz="900"/>
          </a:p>
          <a:p>
            <a:r>
              <a:rPr lang="en-US" sz="900">
                <a:sym typeface="+mn-ea"/>
              </a:rPr>
              <a:t>echo "1. Basic Static Routing Demo:"</a:t>
            </a:r>
            <a:endParaRPr lang="en-US" sz="900"/>
          </a:p>
          <a:p>
            <a:r>
              <a:rPr lang="en-US" sz="900">
                <a:sym typeface="+mn-ea"/>
              </a:rPr>
              <a:t>cd ~/Downloads/ns-allinone-3.39/ns-3.39</a:t>
            </a:r>
            <a:endParaRPr lang="en-US" sz="900"/>
          </a:p>
          <a:p>
            <a:r>
              <a:rPr lang="en-US" sz="900">
                <a:sym typeface="+mn-ea"/>
              </a:rPr>
              <a:t>./ns3 run "scratch/router-static-routing --animation=true"</a:t>
            </a:r>
            <a:endParaRPr lang="en-US" sz="900"/>
          </a:p>
          <a:p>
            <a:endParaRPr lang="en-US" sz="900"/>
          </a:p>
          <a:p>
            <a:r>
              <a:rPr lang="en-US" sz="900">
                <a:sym typeface="+mn-ea"/>
              </a:rPr>
              <a:t>echo ""</a:t>
            </a:r>
            <a:endParaRPr lang="en-US" sz="900"/>
          </a:p>
          <a:p>
            <a:r>
              <a:rPr lang="en-US" sz="900">
                <a:sym typeface="+mn-ea"/>
              </a:rPr>
              <a:t>echo "2. Link Failure Demo:"</a:t>
            </a:r>
            <a:endParaRPr lang="en-US" sz="900"/>
          </a:p>
          <a:p>
            <a:r>
              <a:rPr lang="en-US" sz="900">
                <a:sym typeface="+mn-ea"/>
              </a:rPr>
              <a:t>./ns3 run "scratch/router-static-routing --animation=true --failure=true --failtime=5"</a:t>
            </a:r>
            <a:endParaRPr lang="en-US" sz="900"/>
          </a:p>
          <a:p>
            <a:endParaRPr lang="en-US" sz="900"/>
          </a:p>
          <a:p>
            <a:r>
              <a:rPr lang="en-US" sz="900">
                <a:sym typeface="+mn-ea"/>
              </a:rPr>
              <a:t>echo ""</a:t>
            </a:r>
            <a:endParaRPr lang="en-US" sz="900"/>
          </a:p>
          <a:p>
            <a:r>
              <a:rPr lang="en-US" sz="900">
                <a:sym typeface="+mn-ea"/>
              </a:rPr>
              <a:t>echo "3. Opening NetAnim Visualization:"</a:t>
            </a:r>
            <a:endParaRPr lang="en-US" sz="900"/>
          </a:p>
          <a:p>
            <a:r>
              <a:rPr lang="en-US" sz="900">
                <a:sym typeface="+mn-ea"/>
              </a:rPr>
              <a:t>cd ../netanim-3.108</a:t>
            </a:r>
            <a:endParaRPr lang="en-US" sz="900"/>
          </a:p>
          <a:p>
            <a:r>
              <a:rPr lang="en-US" sz="900">
                <a:sym typeface="+mn-ea"/>
              </a:rPr>
              <a:t>./NetAnim &amp;</a:t>
            </a:r>
            <a:endParaRPr lang="en-US" sz="900"/>
          </a:p>
          <a:p>
            <a:r>
              <a:rPr lang="en-US" sz="900">
                <a:sym typeface="+mn-ea"/>
              </a:rPr>
              <a:t>echo "Please open: ../ns-3.39/scratch/router-static-routing.xml"</a:t>
            </a:r>
            <a:endParaRPr lang="en-US" sz="900"/>
          </a:p>
          <a:p>
            <a:endParaRPr lang="en-US" sz="900"/>
          </a:p>
          <a:p>
            <a:r>
              <a:rPr lang="en-US" sz="900">
                <a:sym typeface="+mn-ea"/>
              </a:rPr>
              <a:t>echo ""</a:t>
            </a:r>
            <a:endParaRPr lang="en-US" sz="900"/>
          </a:p>
          <a:p>
            <a:r>
              <a:rPr lang="en-US" sz="900">
                <a:sym typeface="+mn-ea"/>
              </a:rPr>
              <a:t>echo "=== PRESENTATION TALKING POINTS ==="</a:t>
            </a:r>
            <a:endParaRPr lang="en-US" sz="900"/>
          </a:p>
          <a:p>
            <a:r>
              <a:rPr lang="en-US" sz="900">
                <a:sym typeface="+mn-ea"/>
              </a:rPr>
              <a:t>echo "• Show packet flow from Client to Server"</a:t>
            </a:r>
            <a:endParaRPr lang="en-US" sz="900"/>
          </a:p>
          <a:p>
            <a:r>
              <a:rPr lang="en-US" sz="900">
                <a:sym typeface="+mn-ea"/>
              </a:rPr>
              <a:t>echo "• Highlight router forwarding role"</a:t>
            </a:r>
            <a:endParaRPr lang="en-US" sz="900"/>
          </a:p>
          <a:p>
            <a:r>
              <a:rPr lang="en-US" sz="900">
                <a:sym typeface="+mn-ea"/>
              </a:rPr>
              <a:t>echo "• Demonstrate static routing tables"</a:t>
            </a:r>
            <a:endParaRPr lang="en-US" sz="900"/>
          </a:p>
          <a:p>
            <a:r>
              <a:rPr lang="en-US" sz="900">
                <a:sym typeface="+mn-ea"/>
              </a:rPr>
              <a:t>echo "• Show what happens during link failure"</a:t>
            </a:r>
            <a:endParaRPr lang="en-US" sz="900"/>
          </a:p>
          <a:p>
            <a:r>
              <a:rPr lang="en-US" sz="900">
                <a:sym typeface="+mn-ea"/>
              </a:rPr>
              <a:t>echo "• Compare with dynamic routing (conceptually)"</a:t>
            </a:r>
            <a:endParaRPr lang="en-US" sz="900"/>
          </a:p>
          <a:p>
            <a:endParaRPr lang="en-US" sz="900"/>
          </a:p>
          <a:p>
            <a:endParaRPr lang="en-US" sz="900"/>
          </a:p>
          <a:p>
            <a:endParaRPr lang="en-US" sz="900"/>
          </a:p>
        </p:txBody>
      </p:sp>
      <p:sp>
        <p:nvSpPr>
          <p:cNvPr id="3" name="Text Box 2"/>
          <p:cNvSpPr txBox="1"/>
          <p:nvPr/>
        </p:nvSpPr>
        <p:spPr>
          <a:xfrm>
            <a:off x="5720715" y="253365"/>
            <a:ext cx="6388100" cy="5077460"/>
          </a:xfrm>
          <a:prstGeom prst="rect">
            <a:avLst/>
          </a:prstGeom>
          <a:noFill/>
        </p:spPr>
        <p:txBody>
          <a:bodyPr wrap="square" rtlCol="0">
            <a:spAutoFit/>
          </a:bodyPr>
          <a:p>
            <a:r>
              <a:rPr lang="en-US" sz="900" b="1">
                <a:sym typeface="+mn-ea"/>
              </a:rPr>
              <a:t>Why:</a:t>
            </a:r>
            <a:r>
              <a:rPr lang="en-US" sz="900">
                <a:sym typeface="+mn-ea"/>
              </a:rPr>
              <a:t> Provides a complete presentation script</a:t>
            </a:r>
            <a:endParaRPr lang="en-US" sz="900"/>
          </a:p>
          <a:p>
            <a:r>
              <a:rPr lang="en-US" sz="900">
                <a:sym typeface="+mn-ea"/>
              </a:rPr>
              <a:t>MODIFICATION 6: Add Slide Integration Points</a:t>
            </a:r>
            <a:endParaRPr lang="en-US" sz="900"/>
          </a:p>
          <a:p>
            <a:r>
              <a:rPr lang="en-US" sz="900">
                <a:sym typeface="+mn-ea"/>
              </a:rPr>
              <a:t>cpp</a:t>
            </a:r>
            <a:endParaRPr lang="en-US" sz="900"/>
          </a:p>
          <a:p>
            <a:endParaRPr lang="en-US" sz="900">
              <a:sym typeface="+mn-ea"/>
            </a:endParaRPr>
          </a:p>
          <a:p>
            <a:r>
              <a:rPr lang="en-US" sz="900">
                <a:sym typeface="+mn-ea"/>
              </a:rPr>
              <a:t>/</a:t>
            </a:r>
            <a:r>
              <a:rPr lang="en-US" sz="900" b="1">
                <a:sym typeface="+mn-ea"/>
              </a:rPr>
              <a:t>/ ADD timing markers that match your presentation slides</a:t>
            </a:r>
            <a:r>
              <a:rPr lang="en-US" sz="900">
                <a:sym typeface="+mn-ea"/>
              </a:rPr>
              <a:t>:</a:t>
            </a:r>
            <a:endParaRPr lang="en-US" sz="900"/>
          </a:p>
          <a:p>
            <a:endParaRPr lang="en-US" sz="900"/>
          </a:p>
          <a:p>
            <a:r>
              <a:rPr lang="en-US" sz="900">
                <a:sym typeface="+mn-ea"/>
              </a:rPr>
              <a:t>// ========== PRESENTATION SLIDE SYNC ==========</a:t>
            </a:r>
            <a:endParaRPr lang="en-US" sz="900"/>
          </a:p>
          <a:p>
            <a:r>
              <a:rPr lang="en-US" sz="900">
                <a:sym typeface="+mn-ea"/>
              </a:rPr>
              <a:t>Simulator::Schedule(Seconds(0.5), []() {</a:t>
            </a:r>
            <a:endParaRPr lang="en-US" sz="900"/>
          </a:p>
          <a:p>
            <a:r>
              <a:rPr lang="en-US" sz="900">
                <a:sym typeface="+mn-ea"/>
              </a:rPr>
              <a:t>    std::cout &lt;&lt; "\n══════════════════════════════════════════════════════\n";</a:t>
            </a:r>
            <a:endParaRPr lang="en-US" sz="900"/>
          </a:p>
          <a:p>
            <a:r>
              <a:rPr lang="en-US" sz="900">
                <a:sym typeface="+mn-ea"/>
              </a:rPr>
              <a:t>    std::cout &lt;&lt; "SLIDE 1: Introduction to WAN Routing\n";</a:t>
            </a:r>
            <a:endParaRPr lang="en-US" sz="900"/>
          </a:p>
          <a:p>
            <a:r>
              <a:rPr lang="en-US" sz="900">
                <a:sym typeface="+mn-ea"/>
              </a:rPr>
              <a:t>    std::cout &lt;&lt; "Showing: Basic network topology with router\n";</a:t>
            </a:r>
            <a:endParaRPr lang="en-US" sz="900"/>
          </a:p>
          <a:p>
            <a:r>
              <a:rPr lang="en-US" sz="900">
                <a:sym typeface="+mn-ea"/>
              </a:rPr>
              <a:t>    std::cout &lt;&lt; "══════════════════════════════════════════════════════\n";</a:t>
            </a:r>
            <a:endParaRPr lang="en-US" sz="900"/>
          </a:p>
          <a:p>
            <a:r>
              <a:rPr lang="en-US" sz="900">
                <a:sym typeface="+mn-ea"/>
              </a:rPr>
              <a:t>});</a:t>
            </a:r>
            <a:endParaRPr lang="en-US" sz="900"/>
          </a:p>
          <a:p>
            <a:endParaRPr lang="en-US" sz="900"/>
          </a:p>
          <a:p>
            <a:r>
              <a:rPr lang="en-US" sz="900">
                <a:sym typeface="+mn-ea"/>
              </a:rPr>
              <a:t>Simulator::Schedule(Seconds(2.5), []() {</a:t>
            </a:r>
            <a:endParaRPr lang="en-US" sz="900"/>
          </a:p>
          <a:p>
            <a:r>
              <a:rPr lang="en-US" sz="900">
                <a:sym typeface="+mn-ea"/>
              </a:rPr>
              <a:t>    std::cout &lt;&lt; "\n══════════════════════════════════════════════════════\n";</a:t>
            </a:r>
            <a:endParaRPr lang="en-US" sz="900"/>
          </a:p>
          <a:p>
            <a:r>
              <a:rPr lang="en-US" sz="900">
                <a:sym typeface="+mn-ea"/>
              </a:rPr>
              <a:t>    std::cout &lt;&lt; "SLIDE 2: Static Routing Configuration\n";</a:t>
            </a:r>
            <a:endParaRPr lang="en-US" sz="900"/>
          </a:p>
          <a:p>
            <a:r>
              <a:rPr lang="en-US" sz="900">
                <a:sym typeface="+mn-ea"/>
              </a:rPr>
              <a:t>    std::cout &lt;&lt; "Showing: Packets following static routes\n";</a:t>
            </a:r>
            <a:endParaRPr lang="en-US" sz="900"/>
          </a:p>
          <a:p>
            <a:r>
              <a:rPr lang="en-US" sz="900">
                <a:sym typeface="+mn-ea"/>
              </a:rPr>
              <a:t>    std::cout &lt;&lt; "══════════════════════════════════════════════════════\n";</a:t>
            </a:r>
            <a:endParaRPr lang="en-US" sz="900"/>
          </a:p>
          <a:p>
            <a:r>
              <a:rPr lang="en-US" sz="900">
                <a:sym typeface="+mn-ea"/>
              </a:rPr>
              <a:t>});</a:t>
            </a:r>
            <a:endParaRPr lang="en-US" sz="900"/>
          </a:p>
          <a:p>
            <a:endParaRPr lang="en-US" sz="900"/>
          </a:p>
          <a:p>
            <a:r>
              <a:rPr lang="en-US" sz="900">
                <a:sym typeface="+mn-ea"/>
              </a:rPr>
              <a:t>Simulator::Schedule(Seconds(5.0), []() {</a:t>
            </a:r>
            <a:endParaRPr lang="en-US" sz="900"/>
          </a:p>
          <a:p>
            <a:r>
              <a:rPr lang="en-US" sz="900">
                <a:sym typeface="+mn-ea"/>
              </a:rPr>
              <a:t>    std::cout &lt;&lt; "\n══════════════════════════════════════════════════════\n";</a:t>
            </a:r>
            <a:endParaRPr lang="en-US" sz="900"/>
          </a:p>
          <a:p>
            <a:r>
              <a:rPr lang="en-US" sz="900">
                <a:sym typeface="+mn-ea"/>
              </a:rPr>
              <a:t>    std::cout &lt;&lt; "SLIDE 3: Fault Tolerance Challenge\n";</a:t>
            </a:r>
            <a:endParaRPr lang="en-US" sz="900"/>
          </a:p>
          <a:p>
            <a:r>
              <a:rPr lang="en-US" sz="900">
                <a:sym typeface="+mn-ea"/>
              </a:rPr>
              <a:t>    std::cout &lt;&lt; "Showing: What happens when links fail\n";</a:t>
            </a:r>
            <a:endParaRPr lang="en-US" sz="900"/>
          </a:p>
          <a:p>
            <a:r>
              <a:rPr lang="en-US" sz="900">
                <a:sym typeface="+mn-ea"/>
              </a:rPr>
              <a:t>    std::cout &lt;&lt; "══════════════════════════════════════════════════════\n";</a:t>
            </a:r>
            <a:endParaRPr lang="en-US" sz="900"/>
          </a:p>
          <a:p>
            <a:r>
              <a:rPr lang="en-US" sz="900">
                <a:sym typeface="+mn-ea"/>
              </a:rPr>
              <a:t>});</a:t>
            </a:r>
            <a:endParaRPr lang="en-US" sz="900"/>
          </a:p>
          <a:p>
            <a:endParaRPr lang="en-US" sz="900"/>
          </a:p>
          <a:p>
            <a:r>
              <a:rPr lang="en-US" sz="900">
                <a:sym typeface="+mn-ea"/>
              </a:rPr>
              <a:t>Simulator::Schedule(Seconds(8.0), []() {</a:t>
            </a:r>
            <a:endParaRPr lang="en-US" sz="900"/>
          </a:p>
          <a:p>
            <a:r>
              <a:rPr lang="en-US" sz="900">
                <a:sym typeface="+mn-ea"/>
              </a:rPr>
              <a:t>    std::cout &lt;&lt; "\n══════════════════════════════════════════════════════\n";</a:t>
            </a:r>
            <a:endParaRPr lang="en-US" sz="900"/>
          </a:p>
          <a:p>
            <a:r>
              <a:rPr lang="en-US" sz="900">
                <a:sym typeface="+mn-ea"/>
              </a:rPr>
              <a:t>    std::cout &lt;&lt; "SLIDE 4: Solutions - Dynamic Routing\n";</a:t>
            </a:r>
            <a:endParaRPr lang="en-US" sz="900"/>
          </a:p>
          <a:p>
            <a:r>
              <a:rPr lang="en-US" sz="900">
                <a:sym typeface="+mn-ea"/>
              </a:rPr>
              <a:t>    std::cout &lt;&lt; "Showing: Need for automatic failover\n";</a:t>
            </a:r>
            <a:endParaRPr lang="en-US" sz="900"/>
          </a:p>
          <a:p>
            <a:r>
              <a:rPr lang="en-US" sz="900">
                <a:sym typeface="+mn-ea"/>
              </a:rPr>
              <a:t>    std::cout &lt;&lt; "══════════════════════════════════════════════════════\n";</a:t>
            </a:r>
            <a:endParaRPr lang="en-US" sz="900"/>
          </a:p>
          <a:p>
            <a:r>
              <a:rPr lang="en-US" sz="900">
                <a:sym typeface="+mn-ea"/>
              </a:rPr>
              <a:t>});</a:t>
            </a:r>
            <a:endParaRPr lang="en-US" sz="900"/>
          </a:p>
          <a:p>
            <a:endParaRPr lang="en-US" sz="900"/>
          </a:p>
          <a:p>
            <a:r>
              <a:rPr lang="en-US" sz="900" b="1">
                <a:sym typeface="+mn-ea"/>
              </a:rPr>
              <a:t>Why: Syncs simulation with your PowerPoint slides</a:t>
            </a:r>
            <a:endParaRPr lang="en-US" sz="900"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424305" y="193040"/>
            <a:ext cx="9690100" cy="368300"/>
          </a:xfrm>
          <a:prstGeom prst="rect">
            <a:avLst/>
          </a:prstGeom>
          <a:noFill/>
        </p:spPr>
        <p:txBody>
          <a:bodyPr wrap="square" rtlCol="0">
            <a:spAutoFit/>
          </a:bodyPr>
          <a:p>
            <a:pPr algn="ctr"/>
            <a:r>
              <a:rPr lang="en-US"/>
              <a:t>Screenshot </a:t>
            </a:r>
            <a:endParaRPr lang="en-US"/>
          </a:p>
        </p:txBody>
      </p:sp>
      <p:pic>
        <p:nvPicPr>
          <p:cNvPr id="3" name="Picture 2" descr="exercise 3"/>
          <p:cNvPicPr>
            <a:picLocks noChangeAspect="1"/>
          </p:cNvPicPr>
          <p:nvPr/>
        </p:nvPicPr>
        <p:blipFill>
          <a:blip r:embed="rId1"/>
          <a:stretch>
            <a:fillRect/>
          </a:stretch>
        </p:blipFill>
        <p:spPr>
          <a:xfrm>
            <a:off x="1424305" y="755015"/>
            <a:ext cx="9941560" cy="59277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42340" y="1679575"/>
            <a:ext cx="10664190" cy="521970"/>
          </a:xfrm>
          <a:prstGeom prst="rect">
            <a:avLst/>
          </a:prstGeom>
          <a:noFill/>
        </p:spPr>
        <p:txBody>
          <a:bodyPr wrap="square" rtlCol="0">
            <a:spAutoFit/>
          </a:bodyPr>
          <a:p>
            <a:pPr algn="ctr"/>
            <a:r>
              <a:rPr lang="en-US" sz="2800" b="1"/>
              <a:t>Exercsie3 : </a:t>
            </a:r>
            <a:r>
              <a:rPr lang="en-US"/>
              <a:t>WAN Security Integration and Attack Simulation</a:t>
            </a:r>
            <a:endParaRPr lang="en-US"/>
          </a:p>
        </p:txBody>
      </p:sp>
      <p:sp>
        <p:nvSpPr>
          <p:cNvPr id="3" name="Text Box 2"/>
          <p:cNvSpPr txBox="1"/>
          <p:nvPr/>
        </p:nvSpPr>
        <p:spPr>
          <a:xfrm>
            <a:off x="460375" y="2694940"/>
            <a:ext cx="11587480" cy="2861310"/>
          </a:xfrm>
          <a:prstGeom prst="rect">
            <a:avLst/>
          </a:prstGeom>
          <a:noFill/>
        </p:spPr>
        <p:txBody>
          <a:bodyPr wrap="square" rtlCol="0">
            <a:spAutoFit/>
          </a:bodyPr>
          <a:p>
            <a:r>
              <a:rPr lang="en-US"/>
              <a:t>This report addresses Exercise 3: WAN Security Integration and Attack Simulation from Tutorial Sheet #2. The exercise focuses on enhancing the baseline NS-3 simulation (router-static-routing.cc) to incorporate WAN security mechanisms, simulate network attacks, and evaluate defense strategies. The original simulation models a simple three-node WAN with static routing but lacks security features. In this report, we design and describe modifications to implement IPsec VPNs, simulate eavesdropping and DDoS attacks, propose defensive mechanisms, and analyze the security-performance trade-offs.</a:t>
            </a:r>
            <a:endParaRPr lang="en-US"/>
          </a:p>
          <a:p>
            <a:endParaRPr lang="en-US"/>
          </a:p>
          <a:p>
            <a:r>
              <a:rPr lang="en-US"/>
              <a:t>All modifications are based on the provided router-static-routing.cc file, extended to include security modules and attack simulations within NS-3.</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88620" y="274955"/>
            <a:ext cx="5957570" cy="5754370"/>
          </a:xfrm>
          <a:prstGeom prst="rect">
            <a:avLst/>
          </a:prstGeom>
          <a:noFill/>
        </p:spPr>
        <p:txBody>
          <a:bodyPr wrap="square" rtlCol="0">
            <a:spAutoFit/>
          </a:bodyPr>
          <a:p>
            <a:r>
              <a:rPr lang="en-US" sz="1600" b="1"/>
              <a:t>Question 1 - IPsec VPN Implementation Design</a:t>
            </a:r>
            <a:endParaRPr lang="en-US" sz="1600" b="1"/>
          </a:p>
          <a:p>
            <a:r>
              <a:rPr lang="en-US" sz="1600" b="1"/>
              <a:t>Problem:</a:t>
            </a:r>
            <a:endParaRPr lang="en-US" sz="1600" b="1"/>
          </a:p>
          <a:p>
            <a:endParaRPr lang="en-US" sz="1600"/>
          </a:p>
          <a:p>
            <a:r>
              <a:rPr lang="en-US" sz="1600"/>
              <a:t>    Baseline simulation has no security</a:t>
            </a:r>
            <a:endParaRPr lang="en-US" sz="1600"/>
          </a:p>
          <a:p>
            <a:endParaRPr lang="en-US" sz="1600"/>
          </a:p>
          <a:p>
            <a:r>
              <a:rPr lang="en-US" sz="1600"/>
              <a:t>    Need encrypted tunnels between critical sites</a:t>
            </a:r>
            <a:endParaRPr lang="en-US" sz="1600"/>
          </a:p>
          <a:p>
            <a:endParaRPr lang="en-US" sz="1600"/>
          </a:p>
          <a:p>
            <a:r>
              <a:rPr lang="en-US" sz="1600" b="1"/>
              <a:t>Our Solution:</a:t>
            </a:r>
            <a:endParaRPr lang="en-US" sz="1600" b="1"/>
          </a:p>
          <a:p>
            <a:endParaRPr lang="en-US" sz="1600"/>
          </a:p>
          <a:p>
            <a:r>
              <a:rPr lang="en-US" sz="1600"/>
              <a:t>// Simulated IPsec implementation</a:t>
            </a:r>
            <a:endParaRPr lang="en-US" sz="1600"/>
          </a:p>
          <a:p>
            <a:r>
              <a:rPr lang="en-US" sz="1600"/>
              <a:t>p2p.SetChannelAttribute("Delay", StringValue("12ms")); </a:t>
            </a:r>
            <a:endParaRPr lang="en-US" sz="1600"/>
          </a:p>
          <a:p>
            <a:r>
              <a:rPr lang="en-US" sz="1600"/>
              <a:t>// Original 10ms + 2ms encryption overhead</a:t>
            </a:r>
            <a:endParaRPr lang="en-US" sz="1600"/>
          </a:p>
          <a:p>
            <a:endParaRPr lang="en-US" sz="1600"/>
          </a:p>
          <a:p>
            <a:r>
              <a:rPr lang="en-US" sz="1600"/>
              <a:t>std::cout &lt;&lt; "IPsec Tunnel: ESP_AES256_SHA256\n";</a:t>
            </a:r>
            <a:endParaRPr lang="en-US" sz="1600"/>
          </a:p>
          <a:p>
            <a:r>
              <a:rPr lang="en-US" sz="1600"/>
              <a:t>std::cout &lt;&lt; "Overhead: 36 bytes per packet\n";</a:t>
            </a:r>
            <a:endParaRPr lang="en-US" sz="1600"/>
          </a:p>
          <a:p>
            <a:endParaRPr lang="en-US" sz="1600"/>
          </a:p>
          <a:p>
            <a:r>
              <a:rPr lang="en-US" sz="1600" b="1"/>
              <a:t>Key Features:</a:t>
            </a:r>
            <a:endParaRPr lang="en-US" sz="1600" b="1"/>
          </a:p>
          <a:p>
            <a:endParaRPr lang="en-US" sz="1600"/>
          </a:p>
          <a:p>
            <a:r>
              <a:rPr lang="en-US" sz="1600"/>
              <a:t>    Increased latency to simulate encryption processing</a:t>
            </a:r>
            <a:endParaRPr lang="en-US" sz="1600"/>
          </a:p>
          <a:p>
            <a:endParaRPr lang="en-US" sz="1600"/>
          </a:p>
          <a:p>
            <a:r>
              <a:rPr lang="en-US" sz="1600"/>
              <a:t>    Console logging of security parameters</a:t>
            </a:r>
            <a:endParaRPr lang="en-US" sz="1600"/>
          </a:p>
          <a:p>
            <a:endParaRPr lang="en-US" sz="1600"/>
          </a:p>
          <a:p>
            <a:r>
              <a:rPr lang="en-US" sz="1600"/>
              <a:t>    Tunnel establishment simulation</a:t>
            </a:r>
            <a:endParaRPr lang="en-US" sz="1600"/>
          </a:p>
        </p:txBody>
      </p:sp>
      <p:sp>
        <p:nvSpPr>
          <p:cNvPr id="3" name="Text Box 2"/>
          <p:cNvSpPr txBox="1"/>
          <p:nvPr/>
        </p:nvSpPr>
        <p:spPr>
          <a:xfrm>
            <a:off x="6489700" y="367030"/>
            <a:ext cx="5619750" cy="6339205"/>
          </a:xfrm>
          <a:prstGeom prst="rect">
            <a:avLst/>
          </a:prstGeom>
          <a:noFill/>
        </p:spPr>
        <p:txBody>
          <a:bodyPr wrap="square" rtlCol="0">
            <a:spAutoFit/>
          </a:bodyPr>
          <a:p>
            <a:r>
              <a:rPr lang="en-US" sz="1400" b="1"/>
              <a:t>Question 2 - Eavesdropping Attack Simulation</a:t>
            </a:r>
            <a:endParaRPr lang="en-US" sz="1400" b="1"/>
          </a:p>
          <a:p>
            <a:r>
              <a:rPr lang="en-US" sz="1400" b="1"/>
              <a:t>Attack Scenario:</a:t>
            </a:r>
            <a:endParaRPr lang="en-US" sz="1400" b="1"/>
          </a:p>
          <a:p>
            <a:endParaRPr lang="en-US" sz="1400"/>
          </a:p>
          <a:p>
            <a:r>
              <a:rPr lang="en-US" sz="1400"/>
              <a:t>    Attacker sniffs traffic on primary link</a:t>
            </a:r>
            <a:endParaRPr lang="en-US" sz="1400"/>
          </a:p>
          <a:p>
            <a:endParaRPr lang="en-US" sz="1400"/>
          </a:p>
          <a:p>
            <a:r>
              <a:rPr lang="en-US" sz="1400"/>
              <a:t>    Captures plaintext UDP packets</a:t>
            </a:r>
            <a:endParaRPr lang="en-US" sz="1400"/>
          </a:p>
          <a:p>
            <a:endParaRPr lang="en-US" sz="1400"/>
          </a:p>
          <a:p>
            <a:r>
              <a:rPr lang="en-US" sz="1400"/>
              <a:t>    Extracts sensitive information</a:t>
            </a:r>
            <a:endParaRPr lang="en-US" sz="1400"/>
          </a:p>
          <a:p>
            <a:endParaRPr lang="en-US" sz="1400"/>
          </a:p>
          <a:p>
            <a:r>
              <a:rPr lang="en-US" sz="1400" b="1"/>
              <a:t>Implementation:</a:t>
            </a:r>
            <a:endParaRPr lang="en-US" sz="1400" b="1"/>
          </a:p>
          <a:p>
            <a:endParaRPr lang="en-US" sz="1400"/>
          </a:p>
          <a:p>
            <a:endParaRPr lang="en-US" sz="1400"/>
          </a:p>
          <a:p>
            <a:r>
              <a:rPr lang="en-US" sz="1400"/>
              <a:t>// Enable PCAP tracing</a:t>
            </a:r>
            <a:endParaRPr lang="en-US" sz="1400"/>
          </a:p>
          <a:p>
            <a:r>
              <a:rPr lang="en-US" sz="1400"/>
              <a:t>p2p.EnablePcapAll("scratch/exercise3-eavesdrop");</a:t>
            </a:r>
            <a:endParaRPr lang="en-US" sz="1400"/>
          </a:p>
          <a:p>
            <a:endParaRPr lang="en-US" sz="1400"/>
          </a:p>
          <a:p>
            <a:r>
              <a:rPr lang="en-US" sz="1400"/>
              <a:t>// Schedule attack</a:t>
            </a:r>
            <a:endParaRPr lang="en-US" sz="1400"/>
          </a:p>
          <a:p>
            <a:r>
              <a:rPr lang="en-US" sz="1400"/>
              <a:t>Simulator::Schedule(Seconds(3.0), []() {</a:t>
            </a:r>
            <a:endParaRPr lang="en-US" sz="1400"/>
          </a:p>
          <a:p>
            <a:r>
              <a:rPr lang="en-US" sz="1400"/>
              <a:t>    std::cout &lt;&lt; "[3.0s] EAVESDROPPING: Packet capture active\n";</a:t>
            </a:r>
            <a:endParaRPr lang="en-US" sz="1400"/>
          </a:p>
          <a:p>
            <a:r>
              <a:rPr lang="en-US" sz="1400"/>
              <a:t>});</a:t>
            </a:r>
            <a:endParaRPr lang="en-US" sz="1400"/>
          </a:p>
          <a:p>
            <a:endParaRPr lang="en-US" sz="1400"/>
          </a:p>
          <a:p>
            <a:r>
              <a:rPr lang="en-US" sz="1400" b="1"/>
              <a:t>What's Captured:</a:t>
            </a:r>
            <a:endParaRPr lang="en-US" sz="1400" b="1"/>
          </a:p>
          <a:p>
            <a:endParaRPr lang="en-US" sz="1400"/>
          </a:p>
          <a:p>
            <a:r>
              <a:rPr lang="en-US" sz="1400"/>
              <a:t>    Source/Destination IPs and ports</a:t>
            </a:r>
            <a:endParaRPr lang="en-US" sz="1400"/>
          </a:p>
          <a:p>
            <a:endParaRPr lang="en-US" sz="1400"/>
          </a:p>
          <a:p>
            <a:r>
              <a:rPr lang="en-US" sz="1400"/>
              <a:t>    Packet payload (plaintext without IPsec)</a:t>
            </a:r>
            <a:endParaRPr lang="en-US" sz="1400"/>
          </a:p>
          <a:p>
            <a:endParaRPr lang="en-US" sz="1400"/>
          </a:p>
          <a:p>
            <a:r>
              <a:rPr lang="en-US" sz="1400"/>
              <a:t>    Timing information for traffic analysis</a:t>
            </a:r>
            <a:endParaRPr lang="en-US" sz="1400"/>
          </a:p>
          <a:p>
            <a:endParaRPr lang="en-US" sz="1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4790" y="174625"/>
            <a:ext cx="5111115" cy="6554470"/>
          </a:xfrm>
          <a:prstGeom prst="rect">
            <a:avLst/>
          </a:prstGeom>
          <a:noFill/>
        </p:spPr>
        <p:txBody>
          <a:bodyPr wrap="square" rtlCol="0">
            <a:spAutoFit/>
          </a:bodyPr>
          <a:p>
            <a:r>
              <a:rPr lang="en-US" sz="1400" b="1"/>
              <a:t>Question 3 - DDoS Attack Simulation</a:t>
            </a:r>
            <a:endParaRPr lang="en-US" sz="1400" b="1"/>
          </a:p>
          <a:p>
            <a:r>
              <a:rPr lang="en-US" sz="1400" b="1"/>
              <a:t>Attack Design:</a:t>
            </a:r>
            <a:endParaRPr lang="en-US" sz="1400" b="1"/>
          </a:p>
          <a:p>
            <a:endParaRPr lang="en-US" sz="1400"/>
          </a:p>
          <a:p>
            <a:r>
              <a:rPr lang="en-US" sz="1400"/>
              <a:t>    3 attacker nodes created</a:t>
            </a:r>
            <a:endParaRPr lang="en-US" sz="1400"/>
          </a:p>
          <a:p>
            <a:endParaRPr lang="en-US" sz="1400"/>
          </a:p>
          <a:p>
            <a:r>
              <a:rPr lang="en-US" sz="1400"/>
              <a:t>    UDP flood targeting server (DR-B)</a:t>
            </a:r>
            <a:endParaRPr lang="en-US" sz="1400"/>
          </a:p>
          <a:p>
            <a:endParaRPr lang="en-US" sz="1400"/>
          </a:p>
          <a:p>
            <a:r>
              <a:rPr lang="en-US" sz="1400"/>
              <a:t>    High packet rate (1000 packets/sec per attacker)</a:t>
            </a:r>
            <a:endParaRPr lang="en-US" sz="1400"/>
          </a:p>
          <a:p>
            <a:endParaRPr lang="en-US" sz="1400"/>
          </a:p>
          <a:p>
            <a:r>
              <a:rPr lang="en-US" sz="1400" b="1"/>
              <a:t>Code Implementation:</a:t>
            </a:r>
            <a:endParaRPr lang="en-US" sz="1400" b="1"/>
          </a:p>
          <a:p>
            <a:endParaRPr lang="en-US" sz="1400"/>
          </a:p>
          <a:p>
            <a:r>
              <a:rPr lang="en-US" sz="1400"/>
              <a:t>// Create attackers</a:t>
            </a:r>
            <a:endParaRPr lang="en-US" sz="1400"/>
          </a:p>
          <a:p>
            <a:r>
              <a:rPr lang="en-US" sz="1400"/>
              <a:t>NodeContainer attackers;</a:t>
            </a:r>
            <a:endParaRPr lang="en-US" sz="1400"/>
          </a:p>
          <a:p>
            <a:r>
              <a:rPr lang="en-US" sz="1400"/>
              <a:t>attackers.Create(3);</a:t>
            </a:r>
            <a:endParaRPr lang="en-US" sz="1400"/>
          </a:p>
          <a:p>
            <a:endParaRPr lang="en-US" sz="1400"/>
          </a:p>
          <a:p>
            <a:r>
              <a:rPr lang="en-US" sz="1400"/>
              <a:t>// Install Internet stack FIRST</a:t>
            </a:r>
            <a:endParaRPr lang="en-US" sz="1400"/>
          </a:p>
          <a:p>
            <a:r>
              <a:rPr lang="en-US" sz="1400"/>
              <a:t>stack.Install(attackers);</a:t>
            </a:r>
            <a:endParaRPr lang="en-US" sz="1400"/>
          </a:p>
          <a:p>
            <a:endParaRPr lang="en-US" sz="1400"/>
          </a:p>
          <a:p>
            <a:r>
              <a:rPr lang="en-US" sz="1400"/>
              <a:t>// Configure attack traffic</a:t>
            </a:r>
            <a:endParaRPr lang="en-US" sz="1400"/>
          </a:p>
          <a:p>
            <a:r>
              <a:rPr lang="en-US" sz="1400"/>
              <a:t>UdpClientHelper udpFlood(targetIP, port);</a:t>
            </a:r>
            <a:endParaRPr lang="en-US" sz="1400"/>
          </a:p>
          <a:p>
            <a:r>
              <a:rPr lang="en-US" sz="1400"/>
              <a:t>udpFlood.SetAttribute("Interval", TimeValue(Seconds(0.001)));</a:t>
            </a:r>
            <a:endParaRPr lang="en-US" sz="1400"/>
          </a:p>
          <a:p>
            <a:endParaRPr lang="en-US" sz="1400"/>
          </a:p>
          <a:p>
            <a:r>
              <a:rPr lang="en-US" sz="1400" b="1"/>
              <a:t>Attack Parameters:</a:t>
            </a:r>
            <a:endParaRPr lang="en-US" sz="1400" b="1"/>
          </a:p>
          <a:p>
            <a:endParaRPr lang="en-US" sz="1400"/>
          </a:p>
          <a:p>
            <a:r>
              <a:rPr lang="en-US" sz="1400"/>
              <a:t>    Duration: 5-10 seconds</a:t>
            </a:r>
            <a:endParaRPr lang="en-US" sz="1400"/>
          </a:p>
          <a:p>
            <a:endParaRPr lang="en-US" sz="1400"/>
          </a:p>
          <a:p>
            <a:r>
              <a:rPr lang="en-US" sz="1400"/>
              <a:t>    Packet size: 1024 bytes</a:t>
            </a:r>
            <a:endParaRPr lang="en-US" sz="1400"/>
          </a:p>
          <a:p>
            <a:endParaRPr lang="en-US" sz="1400"/>
          </a:p>
          <a:p>
            <a:r>
              <a:rPr lang="en-US" sz="1400"/>
              <a:t>    Total attack rate: ~3000 packets/sec</a:t>
            </a:r>
            <a:endParaRPr lang="en-US" sz="1400"/>
          </a:p>
        </p:txBody>
      </p:sp>
      <p:sp>
        <p:nvSpPr>
          <p:cNvPr id="3" name="Text Box 2"/>
          <p:cNvSpPr txBox="1"/>
          <p:nvPr/>
        </p:nvSpPr>
        <p:spPr>
          <a:xfrm>
            <a:off x="6011545" y="323850"/>
            <a:ext cx="5997575" cy="6000750"/>
          </a:xfrm>
          <a:prstGeom prst="rect">
            <a:avLst/>
          </a:prstGeom>
          <a:noFill/>
        </p:spPr>
        <p:txBody>
          <a:bodyPr wrap="square" rtlCol="0">
            <a:spAutoFit/>
          </a:bodyPr>
          <a:p>
            <a:r>
              <a:rPr lang="en-US" sz="1600" b="1"/>
              <a:t>Question 4 - Defense Mechanisms</a:t>
            </a:r>
            <a:endParaRPr lang="en-US" sz="1600" b="1"/>
          </a:p>
          <a:p>
            <a:r>
              <a:rPr lang="en-US" sz="1600"/>
              <a:t>Three Layers of Defense:</a:t>
            </a:r>
            <a:endParaRPr lang="en-US" sz="1600"/>
          </a:p>
          <a:p>
            <a:r>
              <a:rPr lang="en-US" sz="1600" b="1"/>
              <a:t>1. Rate Limiting</a:t>
            </a:r>
            <a:endParaRPr lang="en-US" sz="1600" b="1"/>
          </a:p>
          <a:p>
            <a:r>
              <a:rPr lang="en-US" sz="1600" b="1"/>
              <a:t>cpp</a:t>
            </a:r>
            <a:endParaRPr lang="en-US" sz="1600" b="1"/>
          </a:p>
          <a:p>
            <a:endParaRPr lang="en-US" sz="1600"/>
          </a:p>
          <a:p>
            <a:r>
              <a:rPr lang="en-US" sz="1600"/>
              <a:t>// Token Bucket Filter simulation</a:t>
            </a:r>
            <a:endParaRPr lang="en-US" sz="1600"/>
          </a:p>
          <a:p>
            <a:r>
              <a:rPr lang="en-US" sz="1600"/>
              <a:t>p2p.SetDeviceAttribute("DataRate", StringValue("5Mbps"));</a:t>
            </a:r>
            <a:endParaRPr lang="en-US" sz="1600"/>
          </a:p>
          <a:p>
            <a:r>
              <a:rPr lang="en-US" sz="1600"/>
              <a:t>// Limits bandwidth per interface</a:t>
            </a:r>
            <a:endParaRPr lang="en-US" sz="1600"/>
          </a:p>
          <a:p>
            <a:endParaRPr lang="en-US" sz="1600"/>
          </a:p>
          <a:p>
            <a:r>
              <a:rPr lang="en-US" sz="1600" b="1"/>
              <a:t>2. Network Segmentation</a:t>
            </a:r>
            <a:endParaRPr lang="en-US" sz="1600" b="1"/>
          </a:p>
          <a:p>
            <a:r>
              <a:rPr lang="en-US" sz="1600" b="1"/>
              <a:t>cpp</a:t>
            </a:r>
            <a:endParaRPr lang="en-US" sz="1600" b="1"/>
          </a:p>
          <a:p>
            <a:endParaRPr lang="en-US" sz="1600"/>
          </a:p>
          <a:p>
            <a:r>
              <a:rPr lang="en-US" sz="1600"/>
              <a:t>// Attackers on separate subnet</a:t>
            </a:r>
            <a:endParaRPr lang="en-US" sz="1600"/>
          </a:p>
          <a:p>
            <a:r>
              <a:rPr lang="en-US" sz="1600"/>
              <a:t>address.SetBase("10.1.10.0", "255.255.255.252");</a:t>
            </a:r>
            <a:endParaRPr lang="en-US" sz="1600"/>
          </a:p>
          <a:p>
            <a:r>
              <a:rPr lang="en-US" sz="1600"/>
              <a:t>// Isolates malicious traffic</a:t>
            </a:r>
            <a:endParaRPr lang="en-US" sz="1600"/>
          </a:p>
          <a:p>
            <a:endParaRPr lang="en-US" sz="1600"/>
          </a:p>
          <a:p>
            <a:r>
              <a:rPr lang="en-US" sz="1600" b="1"/>
              <a:t>3. Traffic Monitoring</a:t>
            </a:r>
            <a:endParaRPr lang="en-US" sz="1600" b="1"/>
          </a:p>
          <a:p>
            <a:r>
              <a:rPr lang="en-US" sz="1600" b="1"/>
              <a:t>cpp</a:t>
            </a:r>
            <a:endParaRPr lang="en-US" sz="1600" b="1"/>
          </a:p>
          <a:p>
            <a:endParaRPr lang="en-US" sz="1600"/>
          </a:p>
          <a:p>
            <a:r>
              <a:rPr lang="en-US" sz="1600"/>
              <a:t>// FlowMonitor for detection</a:t>
            </a:r>
            <a:endParaRPr lang="en-US" sz="1600"/>
          </a:p>
          <a:p>
            <a:r>
              <a:rPr lang="en-US" sz="1600"/>
              <a:t>FlowMonitorHelper flowmon;</a:t>
            </a:r>
            <a:endParaRPr lang="en-US" sz="1600"/>
          </a:p>
          <a:p>
            <a:r>
              <a:rPr lang="en-US" sz="1600"/>
              <a:t>Ptr&lt;FlowMonitor&gt; monitor = flowmon.InstallAll();</a:t>
            </a:r>
            <a:endParaRPr lang="en-US" sz="1600"/>
          </a:p>
          <a:p>
            <a:r>
              <a:rPr lang="en-US" sz="1600"/>
              <a:t>// Real-time traffic analysis</a:t>
            </a:r>
            <a:endParaRPr lang="en-US" sz="1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448050" y="86995"/>
            <a:ext cx="3950970" cy="922020"/>
          </a:xfrm>
          <a:prstGeom prst="rect">
            <a:avLst/>
          </a:prstGeom>
          <a:noFill/>
        </p:spPr>
        <p:txBody>
          <a:bodyPr wrap="square" rtlCol="0">
            <a:spAutoFit/>
          </a:bodyPr>
          <a:p>
            <a:r>
              <a:rPr lang="en-US" b="1"/>
              <a:t> Question 5 - Security vs Performance Trade-offs</a:t>
            </a:r>
            <a:endParaRPr lang="en-US" b="1"/>
          </a:p>
          <a:p>
            <a:endParaRPr lang="en-US"/>
          </a:p>
        </p:txBody>
      </p:sp>
      <p:graphicFrame>
        <p:nvGraphicFramePr>
          <p:cNvPr id="5" name="Table 4"/>
          <p:cNvGraphicFramePr/>
          <p:nvPr/>
        </p:nvGraphicFramePr>
        <p:xfrm>
          <a:off x="1485900" y="1149350"/>
          <a:ext cx="8534400" cy="1889760"/>
        </p:xfrm>
        <a:graphic>
          <a:graphicData uri="http://schemas.openxmlformats.org/drawingml/2006/table">
            <a:tbl>
              <a:tblPr firstRow="1" bandRow="1">
                <a:tableStyleId>{5C22544A-7EE6-4342-B048-85BDC9FD1C3A}</a:tableStyleId>
              </a:tblPr>
              <a:tblGrid>
                <a:gridCol w="2133600"/>
                <a:gridCol w="2133600"/>
                <a:gridCol w="2133600"/>
                <a:gridCol w="2133600"/>
              </a:tblGrid>
              <a:tr h="381000">
                <a:tc>
                  <a:txBody>
                    <a:bodyPr/>
                    <a:p>
                      <a:pPr>
                        <a:buNone/>
                      </a:pPr>
                      <a:r>
                        <a:rPr lang="en-US"/>
                        <a:t>Security Feature</a:t>
                      </a:r>
                      <a:endParaRPr lang="en-US"/>
                    </a:p>
                  </a:txBody>
                  <a:tcPr/>
                </a:tc>
                <a:tc>
                  <a:txBody>
                    <a:bodyPr/>
                    <a:p>
                      <a:pPr>
                        <a:buNone/>
                      </a:pPr>
                      <a:r>
                        <a:rPr lang="en-US"/>
                        <a:t>Security Benefit</a:t>
                      </a:r>
                      <a:endParaRPr lang="en-US"/>
                    </a:p>
                  </a:txBody>
                  <a:tcPr/>
                </a:tc>
                <a:tc>
                  <a:txBody>
                    <a:bodyPr/>
                    <a:p>
                      <a:pPr>
                        <a:buNone/>
                      </a:pPr>
                      <a:r>
                        <a:rPr lang="en-US"/>
                        <a:t>Performance Cost</a:t>
                      </a:r>
                      <a:endParaRPr lang="en-US"/>
                    </a:p>
                  </a:txBody>
                  <a:tcPr/>
                </a:tc>
                <a:tc>
                  <a:txBody>
                    <a:bodyPr/>
                    <a:p>
                      <a:pPr>
                        <a:buNone/>
                      </a:pPr>
                      <a:r>
                        <a:rPr lang="en-US"/>
                        <a:t>Trade-off</a:t>
                      </a:r>
                      <a:endParaRPr lang="en-US"/>
                    </a:p>
                  </a:txBody>
                  <a:tcPr/>
                </a:tc>
              </a:tr>
              <a:tr h="381000">
                <a:tc>
                  <a:txBody>
                    <a:bodyPr/>
                    <a:p>
                      <a:pPr>
                        <a:buNone/>
                      </a:pPr>
                      <a:r>
                        <a:rPr lang="en-US"/>
                        <a:t>IPsec Encryption</a:t>
                      </a:r>
                      <a:endParaRPr lang="en-US"/>
                    </a:p>
                  </a:txBody>
                  <a:tcPr/>
                </a:tc>
                <a:tc>
                  <a:txBody>
                    <a:bodyPr/>
                    <a:p>
                      <a:pPr>
                        <a:buNone/>
                      </a:pPr>
                      <a:r>
                        <a:rPr lang="en-US"/>
                        <a:t>Confidentiality</a:t>
                      </a:r>
                      <a:endParaRPr lang="en-US"/>
                    </a:p>
                  </a:txBody>
                  <a:tcPr/>
                </a:tc>
                <a:tc>
                  <a:txBody>
                    <a:bodyPr/>
                    <a:p>
                      <a:pPr>
                        <a:buNone/>
                      </a:pPr>
                      <a:r>
                        <a:rPr lang="en-US"/>
                        <a:t>+2ms delay, 36-byte overhead</a:t>
                      </a:r>
                      <a:endParaRPr lang="en-US"/>
                    </a:p>
                  </a:txBody>
                  <a:tcPr/>
                </a:tc>
                <a:tc>
                  <a:txBody>
                    <a:bodyPr/>
                    <a:p>
                      <a:pPr>
                        <a:buNone/>
                      </a:pPr>
                      <a:r>
                        <a:rPr lang="en-US"/>
                        <a:t>Acceptable for sensitive data</a:t>
                      </a:r>
                      <a:endParaRPr lang="en-US"/>
                    </a:p>
                  </a:txBody>
                  <a:tcPr/>
                </a:tc>
              </a:tr>
              <a:tr h="0">
                <a:tc>
                  <a:txBody>
                    <a:bodyPr/>
                    <a:p>
                      <a:pPr>
                        <a:buNone/>
                      </a:pPr>
                      <a:r>
                        <a:rPr lang="en-US"/>
                        <a:t>Traffic Monitoring</a:t>
                      </a:r>
                      <a:endParaRPr lang="en-US"/>
                    </a:p>
                  </a:txBody>
                  <a:tcPr/>
                </a:tc>
                <a:tc>
                  <a:txBody>
                    <a:bodyPr/>
                    <a:p>
                      <a:pPr>
                        <a:buNone/>
                      </a:pPr>
                      <a:r>
                        <a:rPr lang="en-US"/>
                        <a:t>Attack Detection</a:t>
                      </a:r>
                      <a:endParaRPr lang="en-US"/>
                    </a:p>
                  </a:txBody>
                  <a:tcPr/>
                </a:tc>
                <a:tc>
                  <a:txBody>
                    <a:bodyPr/>
                    <a:p>
                      <a:pPr>
                        <a:buNone/>
                      </a:pPr>
                      <a:r>
                        <a:rPr lang="en-US"/>
                        <a:t>CPU/RAM usage</a:t>
                      </a:r>
                      <a:endParaRPr lang="en-US"/>
                    </a:p>
                  </a:txBody>
                  <a:tcPr/>
                </a:tc>
                <a:tc>
                  <a:txBody>
                    <a:bodyPr/>
                    <a:p>
                      <a:pPr>
                        <a:buNone/>
                      </a:pPr>
                      <a:r>
                        <a:rPr lang="en-US"/>
                        <a:t>Essential for security ops</a:t>
                      </a:r>
                      <a:endParaRPr lang="en-US"/>
                    </a:p>
                  </a:txBody>
                  <a:tcPr/>
                </a:tc>
              </a:tr>
              <a:tr h="381000">
                <a:tc>
                  <a:txBody>
                    <a:bodyPr/>
                    <a:p>
                      <a:pPr>
                        <a:buNone/>
                      </a:pPr>
                      <a:r>
                        <a:rPr lang="en-US"/>
                        <a:t>Network Segmentation</a:t>
                      </a:r>
                      <a:endParaRPr lang="en-US"/>
                    </a:p>
                  </a:txBody>
                  <a:tcPr/>
                </a:tc>
                <a:tc>
                  <a:txBody>
                    <a:bodyPr/>
                    <a:p>
                      <a:pPr>
                        <a:buNone/>
                      </a:pPr>
                      <a:r>
                        <a:rPr lang="en-US"/>
                        <a:t>Containment</a:t>
                      </a:r>
                      <a:endParaRPr lang="en-US"/>
                    </a:p>
                  </a:txBody>
                  <a:tcPr/>
                </a:tc>
                <a:tc>
                  <a:txBody>
                    <a:bodyPr/>
                    <a:p>
                      <a:pPr>
                        <a:buNone/>
                      </a:pPr>
                      <a:r>
                        <a:rPr lang="en-US"/>
                        <a:t>Routing complexity</a:t>
                      </a:r>
                      <a:endParaRPr lang="en-US"/>
                    </a:p>
                  </a:txBody>
                  <a:tcPr/>
                </a:tc>
                <a:tc>
                  <a:txBody>
                    <a:bodyPr/>
                    <a:p>
                      <a:pPr>
                        <a:buNone/>
                      </a:pPr>
                      <a:r>
                        <a:rPr lang="en-US"/>
                        <a:t>Required for compliance</a:t>
                      </a:r>
                      <a:endParaRPr lang="en-US"/>
                    </a:p>
                  </a:txBody>
                  <a:tcPr/>
                </a:tc>
              </a:tr>
              <a:tr h="381000">
                <a:tc>
                  <a:txBody>
                    <a:bodyPr/>
                    <a:p>
                      <a:pPr>
                        <a:buNone/>
                      </a:pPr>
                      <a:r>
                        <a:rPr lang="en-US"/>
                        <a:t>DDoS Protection</a:t>
                      </a:r>
                      <a:endParaRPr lang="en-US"/>
                    </a:p>
                  </a:txBody>
                  <a:tcPr/>
                </a:tc>
                <a:tc>
                  <a:txBody>
                    <a:bodyPr/>
                    <a:p>
                      <a:pPr>
                        <a:buNone/>
                      </a:pPr>
                      <a:r>
                        <a:rPr lang="en-US"/>
                        <a:t>Availability</a:t>
                      </a:r>
                      <a:endParaRPr lang="en-US"/>
                    </a:p>
                  </a:txBody>
                  <a:tcPr/>
                </a:tc>
                <a:tc>
                  <a:txBody>
                    <a:bodyPr/>
                    <a:p>
                      <a:pPr>
                        <a:buNone/>
                      </a:pPr>
                      <a:r>
                        <a:rPr lang="en-US"/>
                        <a:t>Processing delay</a:t>
                      </a:r>
                      <a:endParaRPr lang="en-US"/>
                    </a:p>
                  </a:txBody>
                  <a:tcPr/>
                </a:tc>
                <a:tc>
                  <a:txBody>
                    <a:bodyPr/>
                    <a:p>
                      <a:pPr>
                        <a:buNone/>
                      </a:pPr>
                      <a:r>
                        <a:rPr lang="en-US"/>
                        <a:t>Critical for business continuity</a:t>
                      </a:r>
                      <a:endParaRPr lang="en-US"/>
                    </a:p>
                  </a:txBody>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65760" y="227330"/>
            <a:ext cx="10730230" cy="368300"/>
          </a:xfrm>
          <a:prstGeom prst="rect">
            <a:avLst/>
          </a:prstGeom>
          <a:noFill/>
        </p:spPr>
        <p:txBody>
          <a:bodyPr wrap="square" rtlCol="0">
            <a:spAutoFit/>
          </a:bodyPr>
          <a:p>
            <a:pPr algn="ctr"/>
            <a:r>
              <a:rPr lang="en-US"/>
              <a:t>Simulation Architecture</a:t>
            </a:r>
            <a:endParaRPr lang="en-US"/>
          </a:p>
        </p:txBody>
      </p:sp>
      <p:sp>
        <p:nvSpPr>
          <p:cNvPr id="3" name="Text Box 2"/>
          <p:cNvSpPr txBox="1"/>
          <p:nvPr/>
        </p:nvSpPr>
        <p:spPr>
          <a:xfrm>
            <a:off x="269240" y="1210945"/>
            <a:ext cx="11151870" cy="1753235"/>
          </a:xfrm>
          <a:prstGeom prst="rect">
            <a:avLst/>
          </a:prstGeom>
          <a:noFill/>
        </p:spPr>
        <p:txBody>
          <a:bodyPr wrap="square" rtlCol="0">
            <a:spAutoFit/>
          </a:bodyPr>
          <a:p>
            <a:pPr algn="ctr"/>
            <a:r>
              <a:rPr lang="en-US"/>
              <a:t>        [Attacker 1]    [Attacker 2]    [Attacker 3]</a:t>
            </a:r>
            <a:endParaRPr lang="en-US"/>
          </a:p>
          <a:p>
            <a:pPr algn="ctr"/>
            <a:r>
              <a:rPr lang="en-US"/>
              <a:t>              |              |              |</a:t>
            </a:r>
            <a:endParaRPr lang="en-US"/>
          </a:p>
          <a:p>
            <a:pPr algn="ctr"/>
            <a:r>
              <a:rPr lang="en-US"/>
              <a:t>           [10.1.10.0/29]--[DC-A Router]--[10.1.10.0/29]</a:t>
            </a:r>
            <a:endParaRPr lang="en-US"/>
          </a:p>
          <a:p>
            <a:pPr algn="ctr"/>
            <a:r>
              <a:rPr lang="en-US"/>
              <a:t>                 |                           |</a:t>
            </a:r>
            <a:endParaRPr lang="en-US"/>
          </a:p>
          <a:p>
            <a:pPr algn="ctr"/>
            <a:r>
              <a:rPr lang="en-US"/>
              <a:t>        [Branch-C Client]           [DR-B Server]</a:t>
            </a:r>
            <a:endParaRPr lang="en-US"/>
          </a:p>
          <a:p>
            <a:pPr algn="ctr"/>
            <a:r>
              <a:rPr lang="en-US"/>
              <a:t>         (10.1.1.0/24)              (10.1.2.0/24)</a:t>
            </a:r>
            <a:endParaRPr lang="en-US"/>
          </a:p>
        </p:txBody>
      </p:sp>
      <p:sp>
        <p:nvSpPr>
          <p:cNvPr id="4" name="Text Box 3"/>
          <p:cNvSpPr txBox="1"/>
          <p:nvPr/>
        </p:nvSpPr>
        <p:spPr>
          <a:xfrm>
            <a:off x="2138680" y="3335655"/>
            <a:ext cx="7059930" cy="368300"/>
          </a:xfrm>
          <a:prstGeom prst="rect">
            <a:avLst/>
          </a:prstGeom>
          <a:noFill/>
        </p:spPr>
        <p:txBody>
          <a:bodyPr wrap="square" rtlCol="0">
            <a:spAutoFit/>
          </a:bodyPr>
          <a:p>
            <a:pPr algn="ctr"/>
            <a:r>
              <a:rPr lang="en-US"/>
              <a:t> Results Analysis</a:t>
            </a:r>
            <a:endParaRPr lang="en-US"/>
          </a:p>
        </p:txBody>
      </p:sp>
      <p:sp>
        <p:nvSpPr>
          <p:cNvPr id="5" name="Text Box 4"/>
          <p:cNvSpPr txBox="1"/>
          <p:nvPr/>
        </p:nvSpPr>
        <p:spPr>
          <a:xfrm>
            <a:off x="795655" y="4011930"/>
            <a:ext cx="11240135" cy="2553335"/>
          </a:xfrm>
          <a:prstGeom prst="rect">
            <a:avLst/>
          </a:prstGeom>
          <a:noFill/>
        </p:spPr>
        <p:txBody>
          <a:bodyPr wrap="square" rtlCol="0">
            <a:spAutoFit/>
          </a:bodyPr>
          <a:p>
            <a:pPr algn="ctr"/>
            <a:r>
              <a:rPr lang="en-US" sz="1600"/>
              <a:t>Total Flows Analyzed: 4</a:t>
            </a:r>
            <a:endParaRPr lang="en-US" sz="1600"/>
          </a:p>
          <a:p>
            <a:pPr algn="ctr"/>
            <a:r>
              <a:rPr lang="en-US" sz="1600"/>
              <a:t>- Legitimate flows: 1 (Branch-C → DR-B)</a:t>
            </a:r>
            <a:endParaRPr lang="en-US" sz="1600"/>
          </a:p>
          <a:p>
            <a:pPr algn="ctr"/>
            <a:r>
              <a:rPr lang="en-US" sz="1600"/>
              <a:t>- Attack flows: 3 (Attackers → DR-B)</a:t>
            </a:r>
            <a:endParaRPr lang="en-US" sz="1600"/>
          </a:p>
          <a:p>
            <a:pPr algn="ctr"/>
            <a:endParaRPr lang="en-US" sz="1600"/>
          </a:p>
          <a:p>
            <a:pPr algn="ctr"/>
            <a:r>
              <a:rPr lang="en-US" sz="1600"/>
              <a:t>Metrics Comparison:</a:t>
            </a:r>
            <a:endParaRPr lang="en-US" sz="1600"/>
          </a:p>
          <a:p>
            <a:pPr algn="ctr"/>
            <a:r>
              <a:rPr lang="en-US" sz="1600"/>
              <a:t>                   | Legitimate | Attack</a:t>
            </a:r>
            <a:endParaRPr lang="en-US" sz="1600"/>
          </a:p>
          <a:p>
            <a:pPr algn="ctr"/>
            <a:r>
              <a:rPr lang="en-US" sz="1600"/>
              <a:t>-------------------|-------------------------|--------</a:t>
            </a:r>
            <a:endParaRPr lang="en-US" sz="1600"/>
          </a:p>
          <a:p>
            <a:pPr algn="ctr"/>
            <a:r>
              <a:rPr lang="en-US" sz="1600"/>
              <a:t>Packet Loss        |   5-10%                | 15-25%</a:t>
            </a:r>
            <a:endParaRPr lang="en-US" sz="1600"/>
          </a:p>
          <a:p>
            <a:pPr algn="ctr"/>
            <a:r>
              <a:rPr lang="en-US" sz="1600"/>
              <a:t>Average Delay      |                12-15ms    | 5-8ms</a:t>
            </a:r>
            <a:endParaRPr lang="en-US" sz="1600"/>
          </a:p>
          <a:p>
            <a:pPr algn="ctr"/>
            <a:r>
              <a:rPr lang="en-US" sz="1600"/>
              <a:t>Throughput         | 800-900kbps| 400-500kbps</a:t>
            </a:r>
            <a:endParaRPr lang="en-US" sz="16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18465" y="183515"/>
            <a:ext cx="11063605" cy="368300"/>
          </a:xfrm>
          <a:prstGeom prst="rect">
            <a:avLst/>
          </a:prstGeom>
          <a:noFill/>
        </p:spPr>
        <p:txBody>
          <a:bodyPr wrap="square" rtlCol="0">
            <a:spAutoFit/>
          </a:bodyPr>
          <a:p>
            <a:pPr algn="ctr"/>
            <a:r>
              <a:rPr lang="en-US"/>
              <a:t>Screenshot of output</a:t>
            </a:r>
            <a:endParaRPr lang="en-US"/>
          </a:p>
        </p:txBody>
      </p:sp>
      <p:pic>
        <p:nvPicPr>
          <p:cNvPr id="3" name="Picture 2" descr="exercise 4"/>
          <p:cNvPicPr>
            <a:picLocks noChangeAspect="1"/>
          </p:cNvPicPr>
          <p:nvPr/>
        </p:nvPicPr>
        <p:blipFill>
          <a:blip r:embed="rId1"/>
          <a:stretch>
            <a:fillRect/>
          </a:stretch>
        </p:blipFill>
        <p:spPr>
          <a:xfrm>
            <a:off x="631190" y="671195"/>
            <a:ext cx="11368405" cy="62865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7340" y="380365"/>
            <a:ext cx="10484485" cy="645160"/>
          </a:xfrm>
          <a:prstGeom prst="rect">
            <a:avLst/>
          </a:prstGeom>
          <a:noFill/>
        </p:spPr>
        <p:txBody>
          <a:bodyPr wrap="square" rtlCol="0">
            <a:spAutoFit/>
          </a:bodyPr>
          <a:p>
            <a:pPr algn="ctr"/>
            <a:r>
              <a:rPr lang="en-US" b="1"/>
              <a:t>Exercise : 2 </a:t>
            </a:r>
            <a:endParaRPr lang="en-US" b="1"/>
          </a:p>
          <a:p>
            <a:pPr algn="ctr"/>
            <a:r>
              <a:rPr lang="en-US" b="1"/>
              <a:t>STATIC ROUTING ANALYSIS</a:t>
            </a:r>
            <a:endParaRPr lang="en-US" b="1"/>
          </a:p>
        </p:txBody>
      </p:sp>
      <p:sp>
        <p:nvSpPr>
          <p:cNvPr id="3" name="Text Box 2"/>
          <p:cNvSpPr txBox="1"/>
          <p:nvPr/>
        </p:nvSpPr>
        <p:spPr>
          <a:xfrm>
            <a:off x="839470" y="1553210"/>
            <a:ext cx="10915015" cy="922020"/>
          </a:xfrm>
          <a:prstGeom prst="rect">
            <a:avLst/>
          </a:prstGeom>
          <a:noFill/>
        </p:spPr>
        <p:txBody>
          <a:bodyPr wrap="square" rtlCol="0">
            <a:spAutoFit/>
          </a:bodyPr>
          <a:p>
            <a:r>
              <a:rPr lang="en-US"/>
              <a:t>This presentation analyzes Question 2 from the tutorial sheet, focusing on static routing configuration for a Regional Bank WAN with primary and backup paths. The simulation demonstrates static routing limitations through link failure scenarios.</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735455" y="192405"/>
            <a:ext cx="5031740" cy="368300"/>
          </a:xfrm>
          <a:prstGeom prst="rect">
            <a:avLst/>
          </a:prstGeom>
          <a:noFill/>
        </p:spPr>
        <p:txBody>
          <a:bodyPr wrap="square" rtlCol="0">
            <a:spAutoFit/>
          </a:bodyPr>
          <a:p>
            <a:r>
              <a:rPr lang="en-US"/>
              <a:t>Part A: Normal Operation Configuration</a:t>
            </a:r>
            <a:endParaRPr lang="en-US"/>
          </a:p>
        </p:txBody>
      </p:sp>
      <p:sp>
        <p:nvSpPr>
          <p:cNvPr id="3" name="Text Box 2"/>
          <p:cNvSpPr txBox="1"/>
          <p:nvPr/>
        </p:nvSpPr>
        <p:spPr>
          <a:xfrm>
            <a:off x="382905" y="850900"/>
            <a:ext cx="2853055" cy="368300"/>
          </a:xfrm>
          <a:prstGeom prst="rect">
            <a:avLst/>
          </a:prstGeom>
          <a:noFill/>
        </p:spPr>
        <p:txBody>
          <a:bodyPr wrap="square" rtlCol="0">
            <a:spAutoFit/>
          </a:bodyPr>
          <a:p>
            <a:r>
              <a:rPr lang="en-US"/>
              <a:t>1. Branch-C Routing:</a:t>
            </a:r>
            <a:endParaRPr lang="en-US"/>
          </a:p>
        </p:txBody>
      </p:sp>
      <p:sp>
        <p:nvSpPr>
          <p:cNvPr id="4" name="Text Box 3"/>
          <p:cNvSpPr txBox="1"/>
          <p:nvPr/>
        </p:nvSpPr>
        <p:spPr>
          <a:xfrm>
            <a:off x="652780" y="1610360"/>
            <a:ext cx="4175760" cy="1753235"/>
          </a:xfrm>
          <a:prstGeom prst="rect">
            <a:avLst/>
          </a:prstGeom>
          <a:noFill/>
        </p:spPr>
        <p:txBody>
          <a:bodyPr wrap="square" rtlCol="0">
            <a:spAutoFit/>
          </a:bodyPr>
          <a:p>
            <a:r>
              <a:rPr lang="en-US"/>
              <a:t>branchRouting=&gt;AddNetworkRouteTo("10.1.2.0", "255.255.255.0", "10.1.1.2", 1);</a:t>
            </a:r>
            <a:endParaRPr lang="en-US"/>
          </a:p>
          <a:p>
            <a:r>
              <a:rPr lang="en-US"/>
              <a:t>branchRouting=&gt;AddNetworkRouteTo("10.1.3.0", "255.255.255.0", "10.1.1.2", 1);</a:t>
            </a:r>
            <a:endParaRPr lang="en-US"/>
          </a:p>
        </p:txBody>
      </p:sp>
      <p:sp>
        <p:nvSpPr>
          <p:cNvPr id="6" name="Text Box 5"/>
          <p:cNvSpPr txBox="1"/>
          <p:nvPr/>
        </p:nvSpPr>
        <p:spPr>
          <a:xfrm>
            <a:off x="699135" y="3458845"/>
            <a:ext cx="4065905" cy="922020"/>
          </a:xfrm>
          <a:prstGeom prst="rect">
            <a:avLst/>
          </a:prstGeom>
          <a:noFill/>
        </p:spPr>
        <p:txBody>
          <a:bodyPr wrap="square" rtlCol="0">
            <a:spAutoFit/>
          </a:bodyPr>
          <a:p>
            <a:r>
              <a:rPr lang="en-US"/>
              <a:t>Meaning: All traffic to DR-B networks goes through DC-A (10.1.1.2)</a:t>
            </a:r>
            <a:endParaRPr lang="en-US"/>
          </a:p>
        </p:txBody>
      </p:sp>
      <p:sp>
        <p:nvSpPr>
          <p:cNvPr id="7" name="Text Box 6"/>
          <p:cNvSpPr txBox="1"/>
          <p:nvPr/>
        </p:nvSpPr>
        <p:spPr>
          <a:xfrm>
            <a:off x="7040880" y="928370"/>
            <a:ext cx="4408170" cy="368300"/>
          </a:xfrm>
          <a:prstGeom prst="rect">
            <a:avLst/>
          </a:prstGeom>
          <a:noFill/>
        </p:spPr>
        <p:txBody>
          <a:bodyPr wrap="square" rtlCol="0">
            <a:spAutoFit/>
          </a:bodyPr>
          <a:p>
            <a:r>
              <a:rPr lang="en-US"/>
              <a:t>2. DC-A Router Routing:</a:t>
            </a:r>
            <a:endParaRPr lang="en-US"/>
          </a:p>
        </p:txBody>
      </p:sp>
      <p:sp>
        <p:nvSpPr>
          <p:cNvPr id="8" name="Text Box 7"/>
          <p:cNvSpPr txBox="1"/>
          <p:nvPr/>
        </p:nvSpPr>
        <p:spPr>
          <a:xfrm>
            <a:off x="5370195" y="1610360"/>
            <a:ext cx="7226935" cy="1198880"/>
          </a:xfrm>
          <a:prstGeom prst="rect">
            <a:avLst/>
          </a:prstGeom>
          <a:noFill/>
        </p:spPr>
        <p:txBody>
          <a:bodyPr wrap="square" rtlCol="0">
            <a:spAutoFit/>
          </a:bodyPr>
          <a:p>
            <a:r>
              <a:rPr lang="en-US"/>
              <a:t>dcRouting-&gt;AddHostRouteTo("10.1.2.2", "10.1.2.2", 1, 1);      // Primary (metric 1)</a:t>
            </a:r>
            <a:endParaRPr lang="en-US"/>
          </a:p>
          <a:p>
            <a:r>
              <a:rPr lang="en-US"/>
              <a:t>dcRouting-&gt;AddHostRouteTo("10.1.2.2", "10.1.4.2", 3, 10);     // Backup (metric 10)</a:t>
            </a:r>
            <a:endParaRPr lang="en-US"/>
          </a:p>
        </p:txBody>
      </p:sp>
      <p:sp>
        <p:nvSpPr>
          <p:cNvPr id="9" name="Text Box 8"/>
          <p:cNvSpPr txBox="1"/>
          <p:nvPr/>
        </p:nvSpPr>
        <p:spPr>
          <a:xfrm>
            <a:off x="7915275" y="3597275"/>
            <a:ext cx="4009390" cy="922020"/>
          </a:xfrm>
          <a:prstGeom prst="rect">
            <a:avLst/>
          </a:prstGeom>
          <a:noFill/>
        </p:spPr>
        <p:txBody>
          <a:bodyPr wrap="square" rtlCol="0">
            <a:spAutoFit/>
          </a:bodyPr>
          <a:p>
            <a:r>
              <a:rPr lang="en-US"/>
              <a:t>Meaning: Primary path direct, backup via router (higher metric = lower priority)</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01700" y="459740"/>
            <a:ext cx="2265680" cy="368300"/>
          </a:xfrm>
          <a:prstGeom prst="rect">
            <a:avLst/>
          </a:prstGeom>
          <a:noFill/>
        </p:spPr>
        <p:txBody>
          <a:bodyPr wrap="square" rtlCol="0">
            <a:spAutoFit/>
          </a:bodyPr>
          <a:p>
            <a:r>
              <a:rPr lang="en-US"/>
              <a:t>3. DR-B Routing:</a:t>
            </a:r>
            <a:endParaRPr lang="en-US"/>
          </a:p>
        </p:txBody>
      </p:sp>
      <p:sp>
        <p:nvSpPr>
          <p:cNvPr id="3" name="Text Box 2"/>
          <p:cNvSpPr txBox="1"/>
          <p:nvPr/>
        </p:nvSpPr>
        <p:spPr>
          <a:xfrm>
            <a:off x="378460" y="1197610"/>
            <a:ext cx="3640455" cy="3415030"/>
          </a:xfrm>
          <a:prstGeom prst="rect">
            <a:avLst/>
          </a:prstGeom>
          <a:noFill/>
        </p:spPr>
        <p:txBody>
          <a:bodyPr wrap="square" rtlCol="0">
            <a:spAutoFit/>
          </a:bodyPr>
          <a:p>
            <a:r>
              <a:rPr lang="en-US"/>
              <a:t>drRouting-&gt;AddNetworkRouteTo("10.1.1.0", "255.255.255.0", "10.1.2.1", 1, 1);</a:t>
            </a:r>
            <a:endParaRPr lang="en-US"/>
          </a:p>
          <a:p>
            <a:r>
              <a:rPr lang="en-US"/>
              <a:t>drRouting-&gt;AddNetworkRouteTo("10.1.1.0", "255.255.255.0", "10.1.3.1", 2, 100);</a:t>
            </a:r>
            <a:endParaRPr lang="en-US"/>
          </a:p>
          <a:p>
            <a:r>
              <a:rPr lang="en-US"/>
              <a:t>drRouting-&gt;AddNetworkRouteTo("10.1.1.0", "255.255.255.0", "10.1.5.1", 3, 200);</a:t>
            </a:r>
            <a:endParaRPr lang="en-US"/>
          </a:p>
        </p:txBody>
      </p:sp>
      <p:sp>
        <p:nvSpPr>
          <p:cNvPr id="4" name="Text Box 3"/>
          <p:cNvSpPr txBox="1"/>
          <p:nvPr/>
        </p:nvSpPr>
        <p:spPr>
          <a:xfrm>
            <a:off x="429895" y="4909820"/>
            <a:ext cx="3537585" cy="922020"/>
          </a:xfrm>
          <a:prstGeom prst="rect">
            <a:avLst/>
          </a:prstGeom>
          <a:noFill/>
        </p:spPr>
        <p:txBody>
          <a:bodyPr wrap="square" rtlCol="0">
            <a:spAutoFit/>
          </a:bodyPr>
          <a:p>
            <a:r>
              <a:rPr lang="en-US"/>
              <a:t>Meaning: Three return paths with different metrics for priority</a:t>
            </a:r>
            <a:endParaRPr lang="en-US"/>
          </a:p>
        </p:txBody>
      </p:sp>
      <p:sp>
        <p:nvSpPr>
          <p:cNvPr id="5" name="Text Box 4"/>
          <p:cNvSpPr txBox="1"/>
          <p:nvPr/>
        </p:nvSpPr>
        <p:spPr>
          <a:xfrm>
            <a:off x="6049010" y="582295"/>
            <a:ext cx="5783580" cy="645160"/>
          </a:xfrm>
          <a:prstGeom prst="rect">
            <a:avLst/>
          </a:prstGeom>
          <a:noFill/>
        </p:spPr>
        <p:txBody>
          <a:bodyPr wrap="square" rtlCol="0">
            <a:spAutoFit/>
          </a:bodyPr>
          <a:p>
            <a:r>
              <a:rPr lang="en-US"/>
              <a:t>Part B: Backup Operation &amp; Administrative Distance</a:t>
            </a:r>
            <a:endParaRPr lang="en-US"/>
          </a:p>
        </p:txBody>
      </p:sp>
      <p:sp>
        <p:nvSpPr>
          <p:cNvPr id="6" name="Text Box 5"/>
          <p:cNvSpPr txBox="1"/>
          <p:nvPr/>
        </p:nvSpPr>
        <p:spPr>
          <a:xfrm>
            <a:off x="6367145" y="1741170"/>
            <a:ext cx="5598795" cy="3415030"/>
          </a:xfrm>
          <a:prstGeom prst="rect">
            <a:avLst/>
          </a:prstGeom>
          <a:noFill/>
        </p:spPr>
        <p:txBody>
          <a:bodyPr wrap="square" rtlCol="0">
            <a:spAutoFit/>
          </a:bodyPr>
          <a:p>
            <a:r>
              <a:rPr lang="en-US"/>
              <a:t>Link Failure Simulation:</a:t>
            </a:r>
            <a:endParaRPr lang="en-US"/>
          </a:p>
          <a:p>
            <a:endParaRPr lang="en-US"/>
          </a:p>
          <a:p>
            <a:r>
              <a:rPr lang="en-US"/>
              <a:t>Code: Increase delay to 1000ms at t=5s</a:t>
            </a:r>
            <a:endParaRPr lang="en-US"/>
          </a:p>
          <a:p>
            <a:r>
              <a:rPr lang="en-US"/>
              <a:t>Result: 100% packet loss (0/65 packets received)</a:t>
            </a:r>
            <a:endParaRPr lang="en-US"/>
          </a:p>
          <a:p>
            <a:r>
              <a:rPr lang="en-US"/>
              <a:t>What This Shows:</a:t>
            </a:r>
            <a:endParaRPr lang="en-US"/>
          </a:p>
          <a:p>
            <a:pPr marL="285750" indent="-285750">
              <a:buFont typeface="Arial" panose="02080604020202020204" pitchFamily="34" charset="0"/>
              <a:buChar char="•"/>
            </a:pPr>
            <a:endParaRPr lang="en-US"/>
          </a:p>
          <a:p>
            <a:pPr marL="285750" indent="-285750">
              <a:buFont typeface="Arial" panose="02080604020202020204" pitchFamily="34" charset="0"/>
              <a:buChar char="•"/>
            </a:pPr>
            <a:r>
              <a:rPr lang="en-US"/>
              <a:t>    Static routing = NO automatic failover</a:t>
            </a:r>
            <a:endParaRPr lang="en-US"/>
          </a:p>
          <a:p>
            <a:pPr marL="285750" indent="-285750">
              <a:buFont typeface="Arial" panose="02080604020202020204" pitchFamily="34" charset="0"/>
              <a:buChar char="•"/>
            </a:pPr>
            <a:endParaRPr lang="en-US"/>
          </a:p>
          <a:p>
            <a:pPr marL="285750" indent="-285750">
              <a:buFont typeface="Arial" panose="02080604020202020204" pitchFamily="34" charset="0"/>
              <a:buChar char="•"/>
            </a:pPr>
            <a:r>
              <a:rPr lang="en-US"/>
              <a:t>    Routes stay in table even if link fails</a:t>
            </a:r>
            <a:endParaRPr lang="en-US"/>
          </a:p>
          <a:p>
            <a:pPr marL="285750" indent="-285750">
              <a:buFont typeface="Arial" panose="02080604020202020204" pitchFamily="34" charset="0"/>
              <a:buChar char="•"/>
            </a:pPr>
            <a:endParaRPr lang="en-US"/>
          </a:p>
          <a:p>
            <a:pPr marL="285750" indent="-285750">
              <a:buFont typeface="Arial" panose="02080604020202020204" pitchFamily="34" charset="0"/>
              <a:buChar char="•"/>
            </a:pPr>
            <a:r>
              <a:rPr lang="en-US"/>
              <a:t>    Manual intervention required</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611755" y="2025015"/>
            <a:ext cx="6287770" cy="368300"/>
          </a:xfrm>
          <a:prstGeom prst="rect">
            <a:avLst/>
          </a:prstGeom>
          <a:noFill/>
        </p:spPr>
        <p:txBody>
          <a:bodyPr wrap="square" rtlCol="0">
            <a:spAutoFit/>
          </a:bodyPr>
          <a:p>
            <a:r>
              <a:rPr lang="en-US"/>
              <a:t>Administrative Distance vs Metric:</a:t>
            </a:r>
            <a:endParaRPr lang="en-US"/>
          </a:p>
        </p:txBody>
      </p:sp>
      <p:graphicFrame>
        <p:nvGraphicFramePr>
          <p:cNvPr id="3" name="Table 2"/>
          <p:cNvGraphicFramePr/>
          <p:nvPr/>
        </p:nvGraphicFramePr>
        <p:xfrm>
          <a:off x="1828800" y="2857500"/>
          <a:ext cx="8534400" cy="1143000"/>
        </p:xfrm>
        <a:graphic>
          <a:graphicData uri="http://schemas.openxmlformats.org/drawingml/2006/table">
            <a:tbl>
              <a:tblPr firstRow="1" bandRow="1">
                <a:tableStyleId>{5C22544A-7EE6-4342-B048-85BDC9FD1C3A}</a:tableStyleId>
              </a:tblPr>
              <a:tblGrid>
                <a:gridCol w="2844800"/>
                <a:gridCol w="2844800"/>
                <a:gridCol w="2844800"/>
              </a:tblGrid>
              <a:tr h="381000">
                <a:tc>
                  <a:txBody>
                    <a:bodyPr/>
                    <a:p>
                      <a:pPr>
                        <a:buNone/>
                      </a:pPr>
                      <a:r>
                        <a:rPr lang="en-US"/>
                        <a:t>Type</a:t>
                      </a:r>
                      <a:endParaRPr lang="en-US"/>
                    </a:p>
                  </a:txBody>
                  <a:tcPr/>
                </a:tc>
                <a:tc>
                  <a:txBody>
                    <a:bodyPr/>
                    <a:p>
                      <a:pPr>
                        <a:buNone/>
                      </a:pPr>
                      <a:r>
                        <a:rPr lang="en-US"/>
                        <a:t>Purpose</a:t>
                      </a:r>
                      <a:endParaRPr lang="en-US"/>
                    </a:p>
                  </a:txBody>
                  <a:tcPr/>
                </a:tc>
                <a:tc>
                  <a:txBody>
                    <a:bodyPr/>
                    <a:p>
                      <a:pPr>
                        <a:buNone/>
                      </a:pPr>
                      <a:r>
                        <a:rPr lang="en-US"/>
                        <a:t>Example</a:t>
                      </a:r>
                      <a:endParaRPr lang="en-US"/>
                    </a:p>
                  </a:txBody>
                  <a:tcPr/>
                </a:tc>
              </a:tr>
              <a:tr h="381000">
                <a:tc>
                  <a:txBody>
                    <a:bodyPr/>
                    <a:p>
                      <a:pPr>
                        <a:buNone/>
                      </a:pPr>
                      <a:r>
                        <a:rPr lang="en-US"/>
                        <a:t>Administrative Distance</a:t>
                      </a:r>
                      <a:endParaRPr lang="en-US"/>
                    </a:p>
                  </a:txBody>
                  <a:tcPr/>
                </a:tc>
                <a:tc>
                  <a:txBody>
                    <a:bodyPr/>
                    <a:p>
                      <a:pPr>
                        <a:buNone/>
                      </a:pPr>
                      <a:r>
                        <a:rPr lang="en-US"/>
                        <a:t>Trustworthiness of source</a:t>
                      </a:r>
                      <a:endParaRPr lang="en-US"/>
                    </a:p>
                  </a:txBody>
                  <a:tcPr/>
                </a:tc>
                <a:tc>
                  <a:txBody>
                    <a:bodyPr/>
                    <a:p>
                      <a:pPr>
                        <a:buNone/>
                      </a:pPr>
                      <a:r>
                        <a:rPr lang="en-US"/>
                        <a:t>Static=1, OSPF=110</a:t>
                      </a:r>
                      <a:endParaRPr lang="en-US"/>
                    </a:p>
                  </a:txBody>
                  <a:tcPr/>
                </a:tc>
              </a:tr>
              <a:tr h="381000">
                <a:tc>
                  <a:txBody>
                    <a:bodyPr/>
                    <a:p>
                      <a:pPr>
                        <a:buNone/>
                      </a:pPr>
                      <a:r>
                        <a:rPr lang="en-US"/>
                        <a:t>Metric</a:t>
                      </a:r>
                      <a:endParaRPr lang="en-US"/>
                    </a:p>
                  </a:txBody>
                  <a:tcPr/>
                </a:tc>
                <a:tc>
                  <a:txBody>
                    <a:bodyPr/>
                    <a:p>
                      <a:pPr>
                        <a:buNone/>
                      </a:pPr>
                      <a:r>
                        <a:rPr lang="en-US"/>
                        <a:t>Best path within same source</a:t>
                      </a:r>
                      <a:endParaRPr lang="en-US"/>
                    </a:p>
                  </a:txBody>
                  <a:tcPr/>
                </a:tc>
                <a:tc>
                  <a:txBody>
                    <a:bodyPr/>
                    <a:p>
                      <a:pPr>
                        <a:buNone/>
                      </a:pPr>
                      <a:r>
                        <a:rPr lang="en-US"/>
                        <a:t>Lower = better</a:t>
                      </a:r>
                      <a:endParaRPr lang="en-US"/>
                    </a:p>
                  </a:txBody>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76960" y="271145"/>
            <a:ext cx="7841615" cy="460375"/>
          </a:xfrm>
          <a:prstGeom prst="rect">
            <a:avLst/>
          </a:prstGeom>
          <a:noFill/>
        </p:spPr>
        <p:txBody>
          <a:bodyPr wrap="square" rtlCol="0">
            <a:spAutoFit/>
          </a:bodyPr>
          <a:p>
            <a:pPr algn="ctr"/>
            <a:r>
              <a:rPr lang="en-US" sz="2400"/>
              <a:t>code modification </a:t>
            </a:r>
            <a:endParaRPr lang="en-US" sz="2400"/>
          </a:p>
        </p:txBody>
      </p:sp>
      <p:sp>
        <p:nvSpPr>
          <p:cNvPr id="3" name="Text Box 2"/>
          <p:cNvSpPr txBox="1"/>
          <p:nvPr/>
        </p:nvSpPr>
        <p:spPr>
          <a:xfrm>
            <a:off x="154940" y="1334135"/>
            <a:ext cx="4276090" cy="4523105"/>
          </a:xfrm>
          <a:prstGeom prst="rect">
            <a:avLst/>
          </a:prstGeom>
          <a:noFill/>
        </p:spPr>
        <p:txBody>
          <a:bodyPr wrap="square" rtlCol="0">
            <a:spAutoFit/>
          </a:bodyPr>
          <a:p>
            <a:r>
              <a:rPr lang="en-US" sz="1600" b="1"/>
              <a:t>. Fixed Link Failure Method (NS-3.39 Compatibility):</a:t>
            </a:r>
            <a:endParaRPr lang="en-US" sz="1600" b="1"/>
          </a:p>
          <a:p>
            <a:endParaRPr lang="en-US" sz="1600"/>
          </a:p>
          <a:p>
            <a:r>
              <a:rPr lang="en-US" sz="1600"/>
              <a:t>Original (Error):</a:t>
            </a:r>
            <a:endParaRPr lang="en-US" sz="1600"/>
          </a:p>
          <a:p>
            <a:r>
              <a:rPr lang="en-US" sz="1600"/>
              <a:t>devices2.Get(0)-&gt;SetAttribute("Enabled", BooleanValue(false));</a:t>
            </a:r>
            <a:endParaRPr lang="en-US" sz="1600"/>
          </a:p>
          <a:p>
            <a:endParaRPr lang="en-US" sz="1600"/>
          </a:p>
          <a:p>
            <a:r>
              <a:rPr lang="en-US" sz="1600"/>
              <a:t>Modified (Working):</a:t>
            </a:r>
            <a:endParaRPr lang="en-US" sz="1600"/>
          </a:p>
          <a:p>
            <a:r>
              <a:rPr lang="en-US" sz="1600"/>
              <a:t>cpp</a:t>
            </a:r>
            <a:endParaRPr lang="en-US" sz="1600"/>
          </a:p>
          <a:p>
            <a:r>
              <a:rPr lang="en-US" sz="1600"/>
              <a:t>Ptr&lt;Channel&gt; primaryChannel = devices2.Get(0)-&gt;GetChannel();</a:t>
            </a:r>
            <a:endParaRPr lang="en-US" sz="1600"/>
          </a:p>
          <a:p>
            <a:r>
              <a:rPr lang="en-US" sz="1600"/>
              <a:t>primaryChannel-&gt;SetAttribute("Delay", StringValue("1000ms"));</a:t>
            </a:r>
            <a:endParaRPr lang="en-US" sz="1600"/>
          </a:p>
          <a:p>
            <a:endParaRPr lang="en-US" sz="1600"/>
          </a:p>
          <a:p>
            <a:r>
              <a:rPr lang="en-US" sz="1600"/>
              <a:t>Reason: SetAttribute("Enabled") doesn't exist in NS-3.39 for PointToPointNetDevice</a:t>
            </a:r>
            <a:endParaRPr lang="en-US" sz="1600"/>
          </a:p>
        </p:txBody>
      </p:sp>
      <p:sp>
        <p:nvSpPr>
          <p:cNvPr id="4" name="Text Box 3"/>
          <p:cNvSpPr txBox="1"/>
          <p:nvPr/>
        </p:nvSpPr>
        <p:spPr>
          <a:xfrm>
            <a:off x="5168900" y="1316355"/>
            <a:ext cx="4258945" cy="4799965"/>
          </a:xfrm>
          <a:prstGeom prst="rect">
            <a:avLst/>
          </a:prstGeom>
          <a:noFill/>
        </p:spPr>
        <p:txBody>
          <a:bodyPr wrap="square" rtlCol="0">
            <a:spAutoFit/>
          </a:bodyPr>
          <a:p>
            <a:r>
              <a:rPr lang="en-US" b="1"/>
              <a:t> Enhanced Routing Tables:</a:t>
            </a:r>
            <a:endParaRPr lang="en-US" b="1"/>
          </a:p>
          <a:p>
            <a:endParaRPr lang="en-US"/>
          </a:p>
          <a:p>
            <a:r>
              <a:rPr lang="en-US"/>
              <a:t>Added Backup Router Routes:</a:t>
            </a:r>
            <a:endParaRPr lang="en-US"/>
          </a:p>
          <a:p>
            <a:endParaRPr lang="en-US"/>
          </a:p>
          <a:p>
            <a:r>
              <a:rPr lang="en-US"/>
              <a:t>// DC-A backup routes</a:t>
            </a:r>
            <a:endParaRPr lang="en-US"/>
          </a:p>
          <a:p>
            <a:r>
              <a:rPr lang="en-US"/>
              <a:t>dcRouting-&gt;AddHostRouteTo("10.1.2.2", "10.1.4.2", 3, 10);</a:t>
            </a:r>
            <a:endParaRPr lang="en-US"/>
          </a:p>
          <a:p>
            <a:r>
              <a:rPr lang="en-US"/>
              <a:t>dcRouting-&gt;AddHostRouteTo("10.1.3.2", "10.1.4.2", 3, 10);</a:t>
            </a:r>
            <a:endParaRPr lang="en-US"/>
          </a:p>
          <a:p>
            <a:r>
              <a:rPr lang="en-US"/>
              <a:t>// DR-B last resort route</a:t>
            </a:r>
            <a:endParaRPr lang="en-US"/>
          </a:p>
          <a:p>
            <a:r>
              <a:rPr lang="en-US"/>
              <a:t>drRouting-&gt;AddNetworkRouteTo("10.1.1.0", "255.255.255.0", "10.1.5.1", 3, 200);</a:t>
            </a:r>
            <a:endParaRPr lang="en-US"/>
          </a:p>
          <a:p>
            <a:endParaRPr lang="en-US"/>
          </a:p>
        </p:txBody>
      </p:sp>
      <p:sp>
        <p:nvSpPr>
          <p:cNvPr id="5" name="Text Box 4"/>
          <p:cNvSpPr txBox="1"/>
          <p:nvPr/>
        </p:nvSpPr>
        <p:spPr>
          <a:xfrm>
            <a:off x="9313545" y="854075"/>
            <a:ext cx="2695575" cy="5262245"/>
          </a:xfrm>
          <a:prstGeom prst="rect">
            <a:avLst/>
          </a:prstGeom>
          <a:noFill/>
        </p:spPr>
        <p:txBody>
          <a:bodyPr wrap="square" rtlCol="0">
            <a:spAutoFit/>
          </a:bodyPr>
          <a:p>
            <a:r>
              <a:rPr lang="en-US" sz="1400" b="1"/>
              <a:t>Improved Analysis Output:</a:t>
            </a:r>
            <a:endParaRPr lang="en-US" sz="1400" b="1"/>
          </a:p>
          <a:p>
            <a:endParaRPr lang="en-US" sz="1400"/>
          </a:p>
          <a:p>
            <a:r>
              <a:rPr lang="en-US" sz="1400"/>
              <a:t>Added detailed timing analysis:</a:t>
            </a:r>
            <a:endParaRPr lang="en-US" sz="1400"/>
          </a:p>
          <a:p>
            <a:endParaRPr lang="en-US" sz="1400"/>
          </a:p>
          <a:p>
            <a:r>
              <a:rPr lang="en-US" sz="1400"/>
              <a:t>if (it-&gt;second.timeLastRxPacket.GetSeconds() &lt; 5.0) {</a:t>
            </a:r>
            <a:endParaRPr lang="en-US" sz="1400"/>
          </a:p>
          <a:p>
            <a:r>
              <a:rPr lang="en-US" sz="1400"/>
              <a:t>    std::cout &lt;&lt; "  Status: Normal operation (before link failure)" &lt;&lt; std::endl;</a:t>
            </a:r>
            <a:endParaRPr lang="en-US" sz="1400"/>
          </a:p>
          <a:p>
            <a:r>
              <a:rPr lang="en-US" sz="1400"/>
              <a:t>} else if (it-&gt;second.timeLastRxPacket.GetSeconds() &lt; 10.0) {</a:t>
            </a:r>
            <a:endParaRPr lang="en-US" sz="1400"/>
          </a:p>
          <a:p>
            <a:r>
              <a:rPr lang="en-US" sz="1400"/>
              <a:t>    std::cout &lt;&lt; "  Status: During link failure - static routing limitation" &lt;&lt; std::endl;</a:t>
            </a:r>
            <a:endParaRPr lang="en-US" sz="1400"/>
          </a:p>
          <a:p>
            <a:r>
              <a:rPr lang="en-US" sz="1400"/>
              <a:t>} else {</a:t>
            </a:r>
            <a:endParaRPr lang="en-US" sz="1400"/>
          </a:p>
          <a:p>
            <a:r>
              <a:rPr lang="en-US" sz="1400"/>
              <a:t>    std::cout &lt;&lt; "  Status: After link restoration" &lt;&lt; std::endl;</a:t>
            </a:r>
            <a:endParaRPr lang="en-US" sz="1400"/>
          </a:p>
          <a:p>
            <a:r>
              <a:rPr lang="en-US" sz="1400"/>
              <a:t>}</a:t>
            </a:r>
            <a:endParaRPr lang="en-US" sz="1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33680" y="245110"/>
            <a:ext cx="5839460" cy="6000750"/>
          </a:xfrm>
          <a:prstGeom prst="rect">
            <a:avLst/>
          </a:prstGeom>
          <a:noFill/>
        </p:spPr>
        <p:txBody>
          <a:bodyPr wrap="square" rtlCol="0">
            <a:spAutoFit/>
          </a:bodyPr>
          <a:p>
            <a:pPr algn="ctr"/>
            <a:r>
              <a:rPr lang="en-US" sz="1600" b="1"/>
              <a:t>Part A: Normal Operation Configuration</a:t>
            </a:r>
            <a:endParaRPr lang="en-US" sz="1600" b="1"/>
          </a:p>
          <a:p>
            <a:r>
              <a:rPr lang="en-US" sz="1600" b="1"/>
              <a:t>Branch-C Routing:</a:t>
            </a:r>
            <a:endParaRPr lang="en-US" sz="1600" b="1"/>
          </a:p>
          <a:p>
            <a:endParaRPr lang="en-US" sz="1600"/>
          </a:p>
          <a:p>
            <a:r>
              <a:rPr lang="en-US" sz="1600"/>
              <a:t>branchRouting-&gt;AddNetworkRouteTo("10.1.2.0", "255.255.255.0", "10.1.1.2", 1);</a:t>
            </a:r>
            <a:endParaRPr lang="en-US" sz="1600"/>
          </a:p>
          <a:p>
            <a:endParaRPr lang="en-US" sz="1600"/>
          </a:p>
          <a:p>
            <a:r>
              <a:rPr lang="en-US" sz="1600"/>
              <a:t>Meaning: All DR-B traffic → DC-A (10.1.1.2)</a:t>
            </a:r>
            <a:endParaRPr lang="en-US" sz="1600"/>
          </a:p>
          <a:p>
            <a:r>
              <a:rPr lang="en-US" sz="1600" b="1"/>
              <a:t>DC-A Router:</a:t>
            </a:r>
            <a:endParaRPr lang="en-US" sz="1600" b="1"/>
          </a:p>
          <a:p>
            <a:endParaRPr lang="en-US" sz="1600"/>
          </a:p>
          <a:p>
            <a:r>
              <a:rPr lang="en-US" sz="1600"/>
              <a:t>dcRouting-&gt;AddHostRouteTo("10.1.2.2", "10.1.2.2", 1, 1);      // Primary</a:t>
            </a:r>
            <a:endParaRPr lang="en-US" sz="1600"/>
          </a:p>
          <a:p>
            <a:r>
              <a:rPr lang="en-US" sz="1600"/>
              <a:t>dcRouting-&gt;AddHostRouteTo("10.1.2.2", "10.1.4.2", 3, 10);     // Backup</a:t>
            </a:r>
            <a:endParaRPr lang="en-US" sz="1600"/>
          </a:p>
          <a:p>
            <a:endParaRPr lang="en-US" sz="1600"/>
          </a:p>
          <a:p>
            <a:r>
              <a:rPr lang="en-US" sz="1600"/>
              <a:t>Priority: Metric 1 &gt; Metric 10</a:t>
            </a:r>
            <a:endParaRPr lang="en-US" sz="1600"/>
          </a:p>
          <a:p>
            <a:r>
              <a:rPr lang="en-US" sz="1600" b="1"/>
              <a:t>DR-B Routing:</a:t>
            </a:r>
            <a:endParaRPr lang="en-US" sz="1600" b="1"/>
          </a:p>
          <a:p>
            <a:endParaRPr lang="en-US" sz="1600"/>
          </a:p>
          <a:p>
            <a:r>
              <a:rPr lang="en-US" sz="1600"/>
              <a:t>drRouting-&gt;AddNetworkRouteTo("10.1.1.0", "255.255.255.0", "10.1.2.1", 1, 1);</a:t>
            </a:r>
            <a:endParaRPr lang="en-US" sz="1600"/>
          </a:p>
          <a:p>
            <a:r>
              <a:rPr lang="en-US" sz="1600"/>
              <a:t>drRouting-&gt;AddNetworkRouteTo("10.1.1.0", "255.255.255.0", "10.1.3.1", 2, 100);</a:t>
            </a:r>
            <a:endParaRPr lang="en-US" sz="1600"/>
          </a:p>
          <a:p>
            <a:endParaRPr lang="en-US" sz="1600"/>
          </a:p>
          <a:p>
            <a:r>
              <a:rPr lang="en-US" sz="1600"/>
              <a:t>3 Paths: Metric 1 (primary), 100 (backup), 200 (last resort)</a:t>
            </a:r>
            <a:endParaRPr lang="en-US" sz="1600"/>
          </a:p>
        </p:txBody>
      </p:sp>
      <p:sp>
        <p:nvSpPr>
          <p:cNvPr id="3" name="Text Box 2"/>
          <p:cNvSpPr txBox="1"/>
          <p:nvPr/>
        </p:nvSpPr>
        <p:spPr>
          <a:xfrm>
            <a:off x="6477000" y="52070"/>
            <a:ext cx="5417820" cy="5692775"/>
          </a:xfrm>
          <a:prstGeom prst="rect">
            <a:avLst/>
          </a:prstGeom>
          <a:noFill/>
        </p:spPr>
        <p:txBody>
          <a:bodyPr wrap="square" rtlCol="0">
            <a:spAutoFit/>
          </a:bodyPr>
          <a:p>
            <a:r>
              <a:rPr lang="en-US" sz="1400"/>
              <a:t>Part B: Backup Operation Results</a:t>
            </a:r>
            <a:endParaRPr lang="en-US" sz="1400"/>
          </a:p>
          <a:p>
            <a:r>
              <a:rPr lang="en-US" sz="1400"/>
              <a:t>Simulation Output:</a:t>
            </a:r>
            <a:endParaRPr lang="en-US" sz="1400"/>
          </a:p>
          <a:p>
            <a:r>
              <a:rPr lang="en-US" sz="1400"/>
              <a:t>text</a:t>
            </a:r>
            <a:endParaRPr lang="en-US" sz="1400"/>
          </a:p>
          <a:p>
            <a:endParaRPr lang="en-US" sz="1400"/>
          </a:p>
          <a:p>
            <a:r>
              <a:rPr lang="en-US" sz="1400"/>
              <a:t>=== FLOW ANALYSIS ===</a:t>
            </a:r>
            <a:endParaRPr lang="en-US" sz="1400"/>
          </a:p>
          <a:p>
            <a:r>
              <a:rPr lang="en-US" sz="1400"/>
              <a:t>Flow 1: 10.1.1.1 -&gt; 10.1.2.2</a:t>
            </a:r>
            <a:endParaRPr lang="en-US" sz="1400"/>
          </a:p>
          <a:p>
            <a:r>
              <a:rPr lang="en-US" sz="1400"/>
              <a:t>  Tx Packets: 65</a:t>
            </a:r>
            <a:endParaRPr lang="en-US" sz="1400"/>
          </a:p>
          <a:p>
            <a:r>
              <a:rPr lang="en-US" sz="1400"/>
              <a:t>  Rx Packets: 0</a:t>
            </a:r>
            <a:endParaRPr lang="en-US" sz="1400"/>
          </a:p>
          <a:p>
            <a:r>
              <a:rPr lang="en-US" sz="1400"/>
              <a:t>  Packet Loss: 100%</a:t>
            </a:r>
            <a:endParaRPr lang="en-US" sz="1400"/>
          </a:p>
          <a:p>
            <a:endParaRPr lang="en-US" sz="1400"/>
          </a:p>
          <a:p>
            <a:r>
              <a:rPr lang="en-US" sz="1400" b="1"/>
              <a:t>Key Finding:</a:t>
            </a:r>
            <a:endParaRPr lang="en-US" sz="1400" b="1"/>
          </a:p>
          <a:p>
            <a:r>
              <a:rPr lang="en-US" sz="1400"/>
              <a:t>    Static routing = NO automatic failover</a:t>
            </a:r>
            <a:endParaRPr lang="en-US" sz="1400"/>
          </a:p>
          <a:p>
            <a:r>
              <a:rPr lang="en-US" sz="1400"/>
              <a:t>    100% packet loss during link failure (5-10s)</a:t>
            </a:r>
            <a:endParaRPr lang="en-US" sz="1400"/>
          </a:p>
          <a:p>
            <a:r>
              <a:rPr lang="en-US" sz="1400"/>
              <a:t>    Routes remain active even when link is "down"</a:t>
            </a:r>
            <a:endParaRPr lang="en-US" sz="1400"/>
          </a:p>
          <a:p>
            <a:r>
              <a:rPr lang="en-US" sz="1400"/>
              <a:t>Administrative Distance &amp; Metrics</a:t>
            </a:r>
            <a:endParaRPr lang="en-US" sz="1400"/>
          </a:p>
          <a:p>
            <a:r>
              <a:rPr lang="en-US" sz="1400"/>
              <a:t>Comparison:</a:t>
            </a:r>
            <a:endParaRPr lang="en-US" sz="1400"/>
          </a:p>
          <a:p>
            <a:r>
              <a:rPr lang="en-US" sz="1400"/>
              <a:t>Concept	Purpose	Example Values</a:t>
            </a:r>
            <a:endParaRPr lang="en-US" sz="1400"/>
          </a:p>
          <a:p>
            <a:r>
              <a:rPr lang="en-US" sz="1400"/>
              <a:t>Administrative Distance	Trust source	Static=1, OSPF=110, RIP=120</a:t>
            </a:r>
            <a:endParaRPr lang="en-US" sz="1400"/>
          </a:p>
          <a:p>
            <a:r>
              <a:rPr lang="en-US" sz="1400"/>
              <a:t>Metric	Choose best path	Lower = better</a:t>
            </a:r>
            <a:endParaRPr lang="en-US" sz="1400"/>
          </a:p>
          <a:p>
            <a:r>
              <a:rPr lang="en-US" sz="1400" b="1"/>
              <a:t>Real Implementation:</a:t>
            </a:r>
            <a:endParaRPr lang="en-US" sz="1400" b="1"/>
          </a:p>
          <a:p>
            <a:r>
              <a:rPr lang="en-US" sz="1400"/>
              <a:t># Floating static route</a:t>
            </a:r>
            <a:endParaRPr lang="en-US" sz="1400"/>
          </a:p>
          <a:p>
            <a:r>
              <a:rPr lang="en-US" sz="1400"/>
              <a:t>ip route 10.1.2.0 255.255.255.0 10.1.2.2      # Primary (AD=1)</a:t>
            </a:r>
            <a:endParaRPr lang="en-US" sz="1400"/>
          </a:p>
          <a:p>
            <a:r>
              <a:rPr lang="en-US" sz="1400"/>
              <a:t>ip route 10.1.2.0 255.255.255.0 10.1.4.2 10   # Backup (AD=10)</a:t>
            </a:r>
            <a:endParaRPr lang="en-US" sz="1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20065" y="980440"/>
            <a:ext cx="11098530" cy="706755"/>
          </a:xfrm>
          <a:prstGeom prst="rect">
            <a:avLst/>
          </a:prstGeom>
          <a:noFill/>
        </p:spPr>
        <p:txBody>
          <a:bodyPr wrap="square" rtlCol="0">
            <a:spAutoFit/>
          </a:bodyPr>
          <a:p>
            <a:pPr algn="ctr"/>
            <a:r>
              <a:rPr lang="en-US" sz="4000" b="1"/>
              <a:t>Exercise </a:t>
            </a:r>
            <a:r>
              <a:rPr lang="en-US" sz="4000"/>
              <a:t>1 </a:t>
            </a:r>
            <a:endParaRPr lang="en-US" sz="4000"/>
          </a:p>
        </p:txBody>
      </p:sp>
      <p:sp>
        <p:nvSpPr>
          <p:cNvPr id="4" name="Text Box 3"/>
          <p:cNvSpPr txBox="1"/>
          <p:nvPr/>
        </p:nvSpPr>
        <p:spPr>
          <a:xfrm>
            <a:off x="796290" y="2707640"/>
            <a:ext cx="10965815" cy="2030095"/>
          </a:xfrm>
          <a:prstGeom prst="rect">
            <a:avLst/>
          </a:prstGeom>
          <a:noFill/>
        </p:spPr>
        <p:txBody>
          <a:bodyPr wrap="square" rtlCol="0">
            <a:spAutoFit/>
          </a:bodyPr>
          <a:p>
            <a:r>
              <a:rPr lang="en-US"/>
              <a:t>Multi-Site WAN Extension with Redundant Paths</a:t>
            </a:r>
            <a:endParaRPr lang="en-US"/>
          </a:p>
          <a:p>
            <a:endParaRPr lang="en-US"/>
          </a:p>
          <a:p>
            <a:r>
              <a:rPr lang="en-US"/>
              <a:t>Scenario:</a:t>
            </a:r>
            <a:endParaRPr lang="en-US"/>
          </a:p>
          <a:p>
            <a:r>
              <a:rPr lang="en-US"/>
              <a:t>Company expanding from single router to multi-site WAN</a:t>
            </a:r>
            <a:endParaRPr lang="en-US"/>
          </a:p>
          <a:p>
            <a:r>
              <a:rPr lang="en-US"/>
              <a:t>Three locations: HQ, Branch, Data Center</a:t>
            </a:r>
            <a:endParaRPr lang="en-US"/>
          </a:p>
          <a:p>
            <a:r>
              <a:rPr lang="en-US"/>
              <a:t>Requirement: Redundant connectivity</a:t>
            </a:r>
            <a:endParaRPr lang="en-US"/>
          </a:p>
          <a:p>
            <a:r>
              <a:rPr lang="en-US"/>
              <a:t>Challenge: Extend baseline code for triangular topology</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42620" y="572135"/>
            <a:ext cx="10107295" cy="368300"/>
          </a:xfrm>
          <a:prstGeom prst="rect">
            <a:avLst/>
          </a:prstGeom>
          <a:noFill/>
        </p:spPr>
        <p:txBody>
          <a:bodyPr wrap="square" rtlCol="0">
            <a:spAutoFit/>
          </a:bodyPr>
          <a:p>
            <a:pPr algn="ctr"/>
            <a:r>
              <a:rPr lang="en-US" b="1"/>
              <a:t>Static Routing Configuration</a:t>
            </a:r>
            <a:endParaRPr lang="en-US" b="1"/>
          </a:p>
        </p:txBody>
      </p:sp>
      <p:sp>
        <p:nvSpPr>
          <p:cNvPr id="3" name="Text Box 2"/>
          <p:cNvSpPr txBox="1"/>
          <p:nvPr/>
        </p:nvSpPr>
        <p:spPr>
          <a:xfrm>
            <a:off x="806450" y="1338580"/>
            <a:ext cx="10648950" cy="3138170"/>
          </a:xfrm>
          <a:prstGeom prst="rect">
            <a:avLst/>
          </a:prstGeom>
          <a:noFill/>
        </p:spPr>
        <p:txBody>
          <a:bodyPr wrap="square" rtlCol="0">
            <a:spAutoFit/>
          </a:bodyPr>
          <a:p>
            <a:r>
              <a:rPr lang="en-US"/>
              <a:t>HQ (n0):</a:t>
            </a:r>
            <a:endParaRPr lang="en-US"/>
          </a:p>
          <a:p>
            <a:r>
              <a:rPr lang="en-US"/>
              <a:t>- To 10.1.2.0/24 → 10.1.3.2 (primary)</a:t>
            </a:r>
            <a:endParaRPr lang="en-US"/>
          </a:p>
          <a:p>
            <a:r>
              <a:rPr lang="en-US"/>
              <a:t>- To 10.1.2.0/24 → 10.1.1.2 (backup, metric 10)</a:t>
            </a:r>
            <a:endParaRPr lang="en-US"/>
          </a:p>
          <a:p>
            <a:endParaRPr lang="en-US"/>
          </a:p>
          <a:p>
            <a:r>
              <a:rPr lang="en-US"/>
              <a:t>Branch (n1):</a:t>
            </a:r>
            <a:endParaRPr lang="en-US"/>
          </a:p>
          <a:p>
            <a:r>
              <a:rPr lang="en-US"/>
              <a:t>- To 10.1.3.0/24 → 10.1.2.2</a:t>
            </a:r>
            <a:endParaRPr lang="en-US"/>
          </a:p>
          <a:p>
            <a:r>
              <a:rPr lang="en-US"/>
              <a:t>- To 10.1.3.0/24 → 10.1.1.1</a:t>
            </a:r>
            <a:endParaRPr lang="en-US"/>
          </a:p>
          <a:p>
            <a:endParaRPr lang="en-US"/>
          </a:p>
          <a:p>
            <a:r>
              <a:rPr lang="en-US"/>
              <a:t>DC (n2):</a:t>
            </a:r>
            <a:endParaRPr lang="en-US"/>
          </a:p>
          <a:p>
            <a:r>
              <a:rPr lang="en-US"/>
              <a:t>- To 10.1.1.0/24 → 10.1.3.1 (primary)</a:t>
            </a:r>
            <a:endParaRPr lang="en-US"/>
          </a:p>
          <a:p>
            <a:r>
              <a:rPr lang="en-US"/>
              <a:t>- To 10.1.1.0/24 → 10.1.2.1 (backup, metric 10)</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16610" y="408305"/>
            <a:ext cx="10996295" cy="368300"/>
          </a:xfrm>
          <a:prstGeom prst="rect">
            <a:avLst/>
          </a:prstGeom>
          <a:noFill/>
        </p:spPr>
        <p:txBody>
          <a:bodyPr wrap="square" rtlCol="0">
            <a:spAutoFit/>
          </a:bodyPr>
          <a:p>
            <a:pPr algn="ctr"/>
            <a:r>
              <a:rPr lang="en-US" b="1"/>
              <a:t>Link Failure Simulation</a:t>
            </a:r>
            <a:endParaRPr lang="en-US" b="1"/>
          </a:p>
        </p:txBody>
      </p:sp>
      <p:sp>
        <p:nvSpPr>
          <p:cNvPr id="3" name="Text Box 2"/>
          <p:cNvSpPr txBox="1"/>
          <p:nvPr/>
        </p:nvSpPr>
        <p:spPr>
          <a:xfrm>
            <a:off x="213995" y="1276985"/>
            <a:ext cx="2370455" cy="4799965"/>
          </a:xfrm>
          <a:prstGeom prst="rect">
            <a:avLst/>
          </a:prstGeom>
          <a:noFill/>
        </p:spPr>
        <p:txBody>
          <a:bodyPr wrap="square" rtlCol="0">
            <a:spAutoFit/>
          </a:bodyPr>
          <a:p>
            <a:r>
              <a:rPr lang="en-US"/>
              <a:t>Demonstration Steps:</a:t>
            </a:r>
            <a:endParaRPr lang="en-US"/>
          </a:p>
          <a:p>
            <a:endParaRPr lang="en-US"/>
          </a:p>
          <a:p>
            <a:pPr marL="285750" indent="-285750">
              <a:buFont typeface="Arial" panose="02080604020202020204" pitchFamily="34" charset="0"/>
              <a:buChar char="•"/>
            </a:pPr>
            <a:r>
              <a:rPr lang="en-US"/>
              <a:t>    Normal operation (0-4 seconds)</a:t>
            </a:r>
            <a:endParaRPr lang="en-US"/>
          </a:p>
          <a:p>
            <a:pPr marL="285750" indent="-285750">
              <a:buFont typeface="Arial" panose="02080604020202020204" pitchFamily="34" charset="0"/>
              <a:buChar char="•"/>
            </a:pPr>
            <a:endParaRPr lang="en-US"/>
          </a:p>
          <a:p>
            <a:pPr marL="285750" indent="-285750">
              <a:buFont typeface="Arial" panose="02080604020202020204" pitchFamily="34" charset="0"/>
              <a:buChar char="•"/>
            </a:pPr>
            <a:r>
              <a:rPr lang="en-US"/>
              <a:t>    Link failure at t=4s</a:t>
            </a:r>
            <a:endParaRPr lang="en-US"/>
          </a:p>
          <a:p>
            <a:pPr marL="285750" indent="-285750">
              <a:buFont typeface="Arial" panose="02080604020202020204" pitchFamily="34" charset="0"/>
              <a:buChar char="•"/>
            </a:pPr>
            <a:endParaRPr lang="en-US"/>
          </a:p>
          <a:p>
            <a:pPr marL="285750" indent="-285750">
              <a:buFont typeface="Arial" panose="02080604020202020204" pitchFamily="34" charset="0"/>
              <a:buChar char="•"/>
            </a:pPr>
            <a:r>
              <a:rPr lang="en-US"/>
              <a:t>    Traffic rerouting via backup path</a:t>
            </a:r>
            <a:endParaRPr lang="en-US"/>
          </a:p>
          <a:p>
            <a:pPr marL="285750" indent="-285750">
              <a:buFont typeface="Arial" panose="02080604020202020204" pitchFamily="34" charset="0"/>
              <a:buChar char="•"/>
            </a:pPr>
            <a:endParaRPr lang="en-US"/>
          </a:p>
          <a:p>
            <a:pPr marL="285750" indent="-285750">
              <a:buFont typeface="Arial" panose="02080604020202020204" pitchFamily="34" charset="0"/>
              <a:buChar char="•"/>
            </a:pPr>
            <a:r>
              <a:rPr lang="en-US"/>
              <a:t>    Verification using FlowMonitor</a:t>
            </a:r>
            <a:endParaRPr lang="en-US"/>
          </a:p>
        </p:txBody>
      </p:sp>
      <p:sp>
        <p:nvSpPr>
          <p:cNvPr id="5" name="Text Box 4"/>
          <p:cNvSpPr txBox="1"/>
          <p:nvPr/>
        </p:nvSpPr>
        <p:spPr>
          <a:xfrm>
            <a:off x="3484245" y="1348740"/>
            <a:ext cx="8563610" cy="1198880"/>
          </a:xfrm>
          <a:prstGeom prst="rect">
            <a:avLst/>
          </a:prstGeom>
          <a:noFill/>
        </p:spPr>
        <p:txBody>
          <a:bodyPr wrap="square" rtlCol="0">
            <a:spAutoFit/>
          </a:bodyPr>
          <a:p>
            <a:r>
              <a:rPr lang="en-US"/>
              <a:t>Simulator::Schedule(Seconds(4.0), [&amp;]() {</a:t>
            </a:r>
            <a:endParaRPr lang="en-US"/>
          </a:p>
          <a:p>
            <a:r>
              <a:rPr lang="en-US"/>
              <a:t>    channel-&gt;SetAttribute("Delay", StringValue("1000ms"));</a:t>
            </a:r>
            <a:endParaRPr lang="en-US"/>
          </a:p>
          <a:p>
            <a:r>
              <a:rPr lang="en-US"/>
              <a:t>    cout &lt;&lt; "Primary link degraded at t=4s\n";</a:t>
            </a:r>
            <a:endParaRPr lang="en-US"/>
          </a:p>
          <a:p>
            <a:r>
              <a:rPr lang="en-US"/>
              <a:t>});</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25685</Words>
  <Application>WPS Presentation</Application>
  <PresentationFormat>宽屏</PresentationFormat>
  <Paragraphs>981</Paragraphs>
  <Slides>32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32</vt:i4>
      </vt:variant>
    </vt:vector>
  </HeadingPairs>
  <TitlesOfParts>
    <vt:vector size="44" baseType="lpstr">
      <vt:lpstr>Arial</vt:lpstr>
      <vt:lpstr>SimSun</vt:lpstr>
      <vt:lpstr>Wingdings</vt:lpstr>
      <vt:lpstr>DejaVu Sans</vt:lpstr>
      <vt:lpstr>Microsoft YaHei</vt:lpstr>
      <vt:lpstr>Droid Sans Fallback</vt:lpstr>
      <vt:lpstr>Arial Unicode MS</vt:lpstr>
      <vt:lpstr>Arial Black</vt:lpstr>
      <vt:lpstr>SimSun</vt:lpstr>
      <vt:lpstr>FontAwesome</vt:lpstr>
      <vt:lpstr>MathJax_Vector</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ghost2629</cp:lastModifiedBy>
  <cp:revision>22</cp:revision>
  <dcterms:created xsi:type="dcterms:W3CDTF">2025-12-16T00:33:49Z</dcterms:created>
  <dcterms:modified xsi:type="dcterms:W3CDTF">2025-12-16T00:33:49Z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1033-11.1.0.11723</vt:lpwstr>
  </property>
  <property fmtid="{D5CDD505-2E9C-101B-9397-08002B2CF9AE}" pid="3" name="ICV">
    <vt:lpwstr/>
  </property>
</Properties>
</file>